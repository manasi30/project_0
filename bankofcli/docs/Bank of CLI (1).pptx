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Garet Bold" charset="1" panose="00000000000000000000"/>
      <p:regular r:id="rId14"/>
    </p:embeddedFont>
    <p:embeddedFont>
      <p:font typeface="Garet" charset="1" panose="00000000000000000000"/>
      <p:regular r:id="rId15"/>
    </p:embeddedFont>
    <p:embeddedFont>
      <p:font typeface="Canva Sans" charset="1" panose="020B05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png" Type="http://schemas.openxmlformats.org/officeDocument/2006/relationships/image"/><Relationship Id="rId12" Target="../media/image26.png" Type="http://schemas.openxmlformats.org/officeDocument/2006/relationships/image"/><Relationship Id="rId13" Target="../media/image27.png" Type="http://schemas.openxmlformats.org/officeDocument/2006/relationships/image"/><Relationship Id="rId14" Target="../media/image28.png" Type="http://schemas.openxmlformats.org/officeDocument/2006/relationships/image"/><Relationship Id="rId15" Target="../media/image29.png" Type="http://schemas.openxmlformats.org/officeDocument/2006/relationships/image"/><Relationship Id="rId16" Target="../media/image30.png" Type="http://schemas.openxmlformats.org/officeDocument/2006/relationships/image"/><Relationship Id="rId17" Target="../media/image31.png" Type="http://schemas.openxmlformats.org/officeDocument/2006/relationships/image"/><Relationship Id="rId18" Target="../media/image32.png" Type="http://schemas.openxmlformats.org/officeDocument/2006/relationships/imag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0312" y="-2382621"/>
            <a:ext cx="6292076" cy="16553520"/>
            <a:chOff x="0" y="0"/>
            <a:chExt cx="376151" cy="989598"/>
          </a:xfrm>
        </p:grpSpPr>
        <p:sp>
          <p:nvSpPr>
            <p:cNvPr name="Freeform 3" id="3"/>
            <p:cNvSpPr/>
            <p:nvPr/>
          </p:nvSpPr>
          <p:spPr>
            <a:xfrm flipH="false" flipV="false" rot="0">
              <a:off x="0" y="0"/>
              <a:ext cx="376151" cy="989598"/>
            </a:xfrm>
            <a:custGeom>
              <a:avLst/>
              <a:gdLst/>
              <a:ahLst/>
              <a:cxnLst/>
              <a:rect r="r" b="b" t="t" l="l"/>
              <a:pathLst>
                <a:path h="989598" w="376151">
                  <a:moveTo>
                    <a:pt x="0" y="0"/>
                  </a:moveTo>
                  <a:lnTo>
                    <a:pt x="376151" y="0"/>
                  </a:lnTo>
                  <a:lnTo>
                    <a:pt x="376151" y="989598"/>
                  </a:lnTo>
                  <a:lnTo>
                    <a:pt x="0" y="989598"/>
                  </a:lnTo>
                  <a:close/>
                </a:path>
              </a:pathLst>
            </a:custGeom>
            <a:solidFill>
              <a:srgbClr val="E7FFCC"/>
            </a:solidFill>
          </p:spPr>
        </p:sp>
        <p:sp>
          <p:nvSpPr>
            <p:cNvPr name="TextBox 4" id="4"/>
            <p:cNvSpPr txBox="true"/>
            <p:nvPr/>
          </p:nvSpPr>
          <p:spPr>
            <a:xfrm>
              <a:off x="0" y="-28575"/>
              <a:ext cx="376151" cy="101817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8040048"/>
            <a:ext cx="8115300" cy="1218252"/>
            <a:chOff x="0" y="0"/>
            <a:chExt cx="812800" cy="122016"/>
          </a:xfrm>
        </p:grpSpPr>
        <p:sp>
          <p:nvSpPr>
            <p:cNvPr name="Freeform 6" id="6"/>
            <p:cNvSpPr/>
            <p:nvPr/>
          </p:nvSpPr>
          <p:spPr>
            <a:xfrm flipH="false" flipV="false" rot="0">
              <a:off x="0" y="0"/>
              <a:ext cx="812800" cy="122016"/>
            </a:xfrm>
            <a:custGeom>
              <a:avLst/>
              <a:gdLst/>
              <a:ahLst/>
              <a:cxnLst/>
              <a:rect r="r" b="b" t="t" l="l"/>
              <a:pathLst>
                <a:path h="122016" w="812800">
                  <a:moveTo>
                    <a:pt x="406400" y="0"/>
                  </a:moveTo>
                  <a:cubicBezTo>
                    <a:pt x="181951" y="0"/>
                    <a:pt x="0" y="27314"/>
                    <a:pt x="0" y="61008"/>
                  </a:cubicBezTo>
                  <a:cubicBezTo>
                    <a:pt x="0" y="94702"/>
                    <a:pt x="181951" y="122016"/>
                    <a:pt x="406400" y="122016"/>
                  </a:cubicBezTo>
                  <a:cubicBezTo>
                    <a:pt x="630849" y="122016"/>
                    <a:pt x="812800" y="94702"/>
                    <a:pt x="812800" y="61008"/>
                  </a:cubicBezTo>
                  <a:cubicBezTo>
                    <a:pt x="812800" y="27314"/>
                    <a:pt x="630849" y="0"/>
                    <a:pt x="406400" y="0"/>
                  </a:cubicBezTo>
                  <a:close/>
                </a:path>
              </a:pathLst>
            </a:custGeom>
            <a:solidFill>
              <a:srgbClr val="3E3A4E"/>
            </a:solidFill>
          </p:spPr>
        </p:sp>
        <p:sp>
          <p:nvSpPr>
            <p:cNvPr name="TextBox 7" id="7"/>
            <p:cNvSpPr txBox="true"/>
            <p:nvPr/>
          </p:nvSpPr>
          <p:spPr>
            <a:xfrm>
              <a:off x="76200" y="-17136"/>
              <a:ext cx="660400" cy="12771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1920852"/>
            <a:ext cx="8115300" cy="6728321"/>
          </a:xfrm>
          <a:custGeom>
            <a:avLst/>
            <a:gdLst/>
            <a:ahLst/>
            <a:cxnLst/>
            <a:rect r="r" b="b" t="t" l="l"/>
            <a:pathLst>
              <a:path h="6728321" w="8115300">
                <a:moveTo>
                  <a:pt x="0" y="0"/>
                </a:moveTo>
                <a:lnTo>
                  <a:pt x="8115300" y="0"/>
                </a:lnTo>
                <a:lnTo>
                  <a:pt x="8115300" y="6728322"/>
                </a:lnTo>
                <a:lnTo>
                  <a:pt x="0" y="6728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023193" y="6593957"/>
            <a:ext cx="6873692" cy="1009789"/>
            <a:chOff x="0" y="0"/>
            <a:chExt cx="2766390" cy="406400"/>
          </a:xfrm>
        </p:grpSpPr>
        <p:sp>
          <p:nvSpPr>
            <p:cNvPr name="Freeform 10" id="10"/>
            <p:cNvSpPr/>
            <p:nvPr/>
          </p:nvSpPr>
          <p:spPr>
            <a:xfrm flipH="false" flipV="false" rot="0">
              <a:off x="0" y="0"/>
              <a:ext cx="2766390" cy="406400"/>
            </a:xfrm>
            <a:custGeom>
              <a:avLst/>
              <a:gdLst/>
              <a:ahLst/>
              <a:cxnLst/>
              <a:rect r="r" b="b" t="t" l="l"/>
              <a:pathLst>
                <a:path h="406400" w="2766390">
                  <a:moveTo>
                    <a:pt x="2563190" y="0"/>
                  </a:moveTo>
                  <a:cubicBezTo>
                    <a:pt x="2675414" y="0"/>
                    <a:pt x="2766390" y="90976"/>
                    <a:pt x="2766390" y="203200"/>
                  </a:cubicBezTo>
                  <a:cubicBezTo>
                    <a:pt x="2766390" y="315424"/>
                    <a:pt x="2675414" y="406400"/>
                    <a:pt x="2563190" y="406400"/>
                  </a:cubicBezTo>
                  <a:lnTo>
                    <a:pt x="203200" y="406400"/>
                  </a:lnTo>
                  <a:cubicBezTo>
                    <a:pt x="90976" y="406400"/>
                    <a:pt x="0" y="315424"/>
                    <a:pt x="0" y="203200"/>
                  </a:cubicBezTo>
                  <a:cubicBezTo>
                    <a:pt x="0" y="90976"/>
                    <a:pt x="90976" y="0"/>
                    <a:pt x="203200" y="0"/>
                  </a:cubicBezTo>
                  <a:close/>
                </a:path>
              </a:pathLst>
            </a:custGeom>
            <a:solidFill>
              <a:srgbClr val="E7FFCC"/>
            </a:solidFill>
          </p:spPr>
        </p:sp>
        <p:sp>
          <p:nvSpPr>
            <p:cNvPr name="TextBox 11" id="11"/>
            <p:cNvSpPr txBox="true"/>
            <p:nvPr/>
          </p:nvSpPr>
          <p:spPr>
            <a:xfrm>
              <a:off x="0" y="-28575"/>
              <a:ext cx="2766390" cy="43497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908252" y="-1998391"/>
            <a:ext cx="4528369" cy="452836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5EC57E"/>
              </a:solidFill>
              <a:prstDash val="solid"/>
              <a:miter/>
            </a:ln>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5783157" y="8173596"/>
            <a:ext cx="5009685" cy="500968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7" id="17"/>
            <p:cNvSpPr txBox="true"/>
            <p:nvPr/>
          </p:nvSpPr>
          <p:spPr>
            <a:xfrm>
              <a:off x="76200" y="47625"/>
              <a:ext cx="660400" cy="68897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7807201" y="1321222"/>
            <a:ext cx="1766576" cy="1907234"/>
          </a:xfrm>
          <a:custGeom>
            <a:avLst/>
            <a:gdLst/>
            <a:ahLst/>
            <a:cxnLst/>
            <a:rect r="r" b="b" t="t" l="l"/>
            <a:pathLst>
              <a:path h="1907234" w="1766576">
                <a:moveTo>
                  <a:pt x="0" y="0"/>
                </a:moveTo>
                <a:lnTo>
                  <a:pt x="1766576" y="0"/>
                </a:lnTo>
                <a:lnTo>
                  <a:pt x="1766576" y="1907234"/>
                </a:lnTo>
                <a:lnTo>
                  <a:pt x="0" y="1907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6836224" y="329080"/>
            <a:ext cx="1037384" cy="1489881"/>
          </a:xfrm>
          <a:custGeom>
            <a:avLst/>
            <a:gdLst/>
            <a:ahLst/>
            <a:cxnLst/>
            <a:rect r="r" b="b" t="t" l="l"/>
            <a:pathLst>
              <a:path h="1489881" w="1037384">
                <a:moveTo>
                  <a:pt x="0" y="0"/>
                </a:moveTo>
                <a:lnTo>
                  <a:pt x="1037384" y="0"/>
                </a:lnTo>
                <a:lnTo>
                  <a:pt x="1037384" y="1489881"/>
                </a:lnTo>
                <a:lnTo>
                  <a:pt x="0" y="1489881"/>
                </a:lnTo>
                <a:lnTo>
                  <a:pt x="0" y="0"/>
                </a:lnTo>
                <a:close/>
              </a:path>
            </a:pathLst>
          </a:custGeom>
          <a:blipFill>
            <a:blip r:embed="rId6">
              <a:extLst>
                <a:ext uri="{96DAC541-7B7A-43D3-8B79-37D633B846F1}">
                  <asvg:svgBlip xmlns:asvg="http://schemas.microsoft.com/office/drawing/2016/SVG/main" r:embed="rId7"/>
                </a:ext>
              </a:extLst>
            </a:blip>
            <a:stretch>
              <a:fillRect l="-375949" t="0" r="0" b="-222270"/>
            </a:stretch>
          </a:blipFill>
        </p:spPr>
      </p:sp>
      <p:sp>
        <p:nvSpPr>
          <p:cNvPr name="TextBox 20" id="20"/>
          <p:cNvSpPr txBox="true"/>
          <p:nvPr/>
        </p:nvSpPr>
        <p:spPr>
          <a:xfrm rot="0">
            <a:off x="10023193" y="3497649"/>
            <a:ext cx="6873692" cy="1177290"/>
          </a:xfrm>
          <a:prstGeom prst="rect">
            <a:avLst/>
          </a:prstGeom>
        </p:spPr>
        <p:txBody>
          <a:bodyPr anchor="t" rtlCol="false" tIns="0" lIns="0" bIns="0" rIns="0">
            <a:spAutoFit/>
          </a:bodyPr>
          <a:lstStyle/>
          <a:p>
            <a:pPr algn="ctr">
              <a:lnSpc>
                <a:spcPts val="9660"/>
              </a:lnSpc>
            </a:pPr>
            <a:r>
              <a:rPr lang="en-US" b="true" sz="6900">
                <a:solidFill>
                  <a:srgbClr val="347470"/>
                </a:solidFill>
                <a:latin typeface="Garet Bold"/>
                <a:ea typeface="Garet Bold"/>
                <a:cs typeface="Garet Bold"/>
                <a:sym typeface="Garet Bold"/>
              </a:rPr>
              <a:t>BANK OF CLI</a:t>
            </a:r>
          </a:p>
        </p:txBody>
      </p:sp>
      <p:sp>
        <p:nvSpPr>
          <p:cNvPr name="TextBox 21" id="21"/>
          <p:cNvSpPr txBox="true"/>
          <p:nvPr/>
        </p:nvSpPr>
        <p:spPr>
          <a:xfrm rot="0">
            <a:off x="12004054" y="6784843"/>
            <a:ext cx="2911971" cy="521335"/>
          </a:xfrm>
          <a:prstGeom prst="rect">
            <a:avLst/>
          </a:prstGeom>
        </p:spPr>
        <p:txBody>
          <a:bodyPr anchor="t" rtlCol="false" tIns="0" lIns="0" bIns="0" rIns="0">
            <a:spAutoFit/>
          </a:bodyPr>
          <a:lstStyle/>
          <a:p>
            <a:pPr algn="ctr">
              <a:lnSpc>
                <a:spcPts val="4339"/>
              </a:lnSpc>
            </a:pPr>
            <a:r>
              <a:rPr lang="en-US" sz="3099">
                <a:solidFill>
                  <a:srgbClr val="000000"/>
                </a:solidFill>
                <a:latin typeface="Garet"/>
                <a:ea typeface="Garet"/>
                <a:cs typeface="Garet"/>
                <a:sym typeface="Garet"/>
              </a:rPr>
              <a:t>Manasi Menon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62690" y="6169955"/>
            <a:ext cx="6292076" cy="8002982"/>
            <a:chOff x="0" y="0"/>
            <a:chExt cx="376151" cy="478432"/>
          </a:xfrm>
        </p:grpSpPr>
        <p:sp>
          <p:nvSpPr>
            <p:cNvPr name="Freeform 3" id="3"/>
            <p:cNvSpPr/>
            <p:nvPr/>
          </p:nvSpPr>
          <p:spPr>
            <a:xfrm flipH="false" flipV="false" rot="0">
              <a:off x="0" y="0"/>
              <a:ext cx="376151" cy="478432"/>
            </a:xfrm>
            <a:custGeom>
              <a:avLst/>
              <a:gdLst/>
              <a:ahLst/>
              <a:cxnLst/>
              <a:rect r="r" b="b" t="t" l="l"/>
              <a:pathLst>
                <a:path h="478432" w="376151">
                  <a:moveTo>
                    <a:pt x="0" y="0"/>
                  </a:moveTo>
                  <a:lnTo>
                    <a:pt x="376151" y="0"/>
                  </a:lnTo>
                  <a:lnTo>
                    <a:pt x="376151" y="478432"/>
                  </a:lnTo>
                  <a:lnTo>
                    <a:pt x="0" y="478432"/>
                  </a:lnTo>
                  <a:close/>
                </a:path>
              </a:pathLst>
            </a:custGeom>
            <a:solidFill>
              <a:srgbClr val="E7FFCC"/>
            </a:solidFill>
          </p:spPr>
        </p:sp>
        <p:sp>
          <p:nvSpPr>
            <p:cNvPr name="TextBox 4" id="4"/>
            <p:cNvSpPr txBox="true"/>
            <p:nvPr/>
          </p:nvSpPr>
          <p:spPr>
            <a:xfrm>
              <a:off x="0" y="-28575"/>
              <a:ext cx="376151" cy="5070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1512039" y="4349076"/>
            <a:ext cx="3117206" cy="3844882"/>
          </a:xfrm>
          <a:custGeom>
            <a:avLst/>
            <a:gdLst/>
            <a:ahLst/>
            <a:cxnLst/>
            <a:rect r="r" b="b" t="t" l="l"/>
            <a:pathLst>
              <a:path h="3844882" w="3117206">
                <a:moveTo>
                  <a:pt x="0" y="0"/>
                </a:moveTo>
                <a:lnTo>
                  <a:pt x="3117206" y="0"/>
                </a:lnTo>
                <a:lnTo>
                  <a:pt x="3117206" y="3844882"/>
                </a:lnTo>
                <a:lnTo>
                  <a:pt x="0" y="3844882"/>
                </a:lnTo>
                <a:lnTo>
                  <a:pt x="0" y="0"/>
                </a:lnTo>
                <a:close/>
              </a:path>
            </a:pathLst>
          </a:custGeom>
          <a:blipFill>
            <a:blip r:embed="rId2"/>
            <a:stretch>
              <a:fillRect l="0" t="0" r="0" b="0"/>
            </a:stretch>
          </a:blipFill>
        </p:spPr>
      </p:sp>
      <p:sp>
        <p:nvSpPr>
          <p:cNvPr name="TextBox 6" id="6"/>
          <p:cNvSpPr txBox="true"/>
          <p:nvPr/>
        </p:nvSpPr>
        <p:spPr>
          <a:xfrm rot="0">
            <a:off x="2033235" y="2072639"/>
            <a:ext cx="7086106" cy="2910915"/>
          </a:xfrm>
          <a:prstGeom prst="rect">
            <a:avLst/>
          </a:prstGeom>
        </p:spPr>
        <p:txBody>
          <a:bodyPr anchor="t" rtlCol="false" tIns="0" lIns="0" bIns="0" rIns="0">
            <a:spAutoFit/>
          </a:bodyPr>
          <a:lstStyle/>
          <a:p>
            <a:pPr algn="l" marL="0" indent="0" lvl="0">
              <a:lnSpc>
                <a:spcPts val="3355"/>
              </a:lnSpc>
            </a:pPr>
            <a:r>
              <a:rPr lang="en-US" sz="2397">
                <a:solidFill>
                  <a:srgbClr val="000000"/>
                </a:solidFill>
                <a:latin typeface="Garet"/>
                <a:ea typeface="Garet"/>
                <a:cs typeface="Garet"/>
                <a:sym typeface="Garet"/>
              </a:rPr>
              <a:t>Bank of CLI is a</a:t>
            </a:r>
            <a:r>
              <a:rPr lang="en-US" sz="2397">
                <a:solidFill>
                  <a:srgbClr val="000000"/>
                </a:solidFill>
                <a:latin typeface="Garet"/>
                <a:ea typeface="Garet"/>
                <a:cs typeface="Garet"/>
                <a:sym typeface="Garet"/>
              </a:rPr>
              <a:t> command-line banking application built in Java that simulates core banking operations. Users can register an account, log in using an Account ID and PIN, check their balance, deposit and withdraw funds, transfer money, and view transaction history.</a:t>
            </a:r>
          </a:p>
        </p:txBody>
      </p:sp>
      <p:grpSp>
        <p:nvGrpSpPr>
          <p:cNvPr name="Group 7" id="7"/>
          <p:cNvGrpSpPr/>
          <p:nvPr/>
        </p:nvGrpSpPr>
        <p:grpSpPr>
          <a:xfrm rot="0">
            <a:off x="9962690" y="-1806700"/>
            <a:ext cx="6292076" cy="3386795"/>
            <a:chOff x="0" y="0"/>
            <a:chExt cx="376151" cy="202468"/>
          </a:xfrm>
        </p:grpSpPr>
        <p:sp>
          <p:nvSpPr>
            <p:cNvPr name="Freeform 8" id="8"/>
            <p:cNvSpPr/>
            <p:nvPr/>
          </p:nvSpPr>
          <p:spPr>
            <a:xfrm flipH="false" flipV="false" rot="0">
              <a:off x="0" y="0"/>
              <a:ext cx="376151" cy="202468"/>
            </a:xfrm>
            <a:custGeom>
              <a:avLst/>
              <a:gdLst/>
              <a:ahLst/>
              <a:cxnLst/>
              <a:rect r="r" b="b" t="t" l="l"/>
              <a:pathLst>
                <a:path h="202468" w="376151">
                  <a:moveTo>
                    <a:pt x="0" y="0"/>
                  </a:moveTo>
                  <a:lnTo>
                    <a:pt x="376151" y="0"/>
                  </a:lnTo>
                  <a:lnTo>
                    <a:pt x="376151" y="202468"/>
                  </a:lnTo>
                  <a:lnTo>
                    <a:pt x="0" y="202468"/>
                  </a:lnTo>
                  <a:close/>
                </a:path>
              </a:pathLst>
            </a:custGeom>
            <a:solidFill>
              <a:srgbClr val="E7FFCC"/>
            </a:solidFill>
          </p:spPr>
        </p:sp>
        <p:sp>
          <p:nvSpPr>
            <p:cNvPr name="TextBox 9" id="9"/>
            <p:cNvSpPr txBox="true"/>
            <p:nvPr/>
          </p:nvSpPr>
          <p:spPr>
            <a:xfrm>
              <a:off x="0" y="-28575"/>
              <a:ext cx="376151" cy="2310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0915373" y="2141513"/>
            <a:ext cx="4386709" cy="1686751"/>
          </a:xfrm>
          <a:prstGeom prst="rect">
            <a:avLst/>
          </a:prstGeom>
        </p:spPr>
        <p:txBody>
          <a:bodyPr anchor="t" rtlCol="false" tIns="0" lIns="0" bIns="0" rIns="0">
            <a:spAutoFit/>
          </a:bodyPr>
          <a:lstStyle/>
          <a:p>
            <a:pPr algn="ctr" marL="0" indent="0" lvl="0">
              <a:lnSpc>
                <a:spcPts val="6779"/>
              </a:lnSpc>
            </a:pPr>
            <a:r>
              <a:rPr lang="en-US" b="true" sz="4842">
                <a:solidFill>
                  <a:srgbClr val="347470"/>
                </a:solidFill>
                <a:latin typeface="Garet Bold"/>
                <a:ea typeface="Garet Bold"/>
                <a:cs typeface="Garet Bold"/>
                <a:sym typeface="Garet Bold"/>
              </a:rPr>
              <a:t>Project Overview</a:t>
            </a:r>
          </a:p>
        </p:txBody>
      </p:sp>
      <p:sp>
        <p:nvSpPr>
          <p:cNvPr name="TextBox 11" id="11"/>
          <p:cNvSpPr txBox="true"/>
          <p:nvPr/>
        </p:nvSpPr>
        <p:spPr>
          <a:xfrm rot="0">
            <a:off x="2033235" y="5502276"/>
            <a:ext cx="7086106" cy="2491815"/>
          </a:xfrm>
          <a:prstGeom prst="rect">
            <a:avLst/>
          </a:prstGeom>
        </p:spPr>
        <p:txBody>
          <a:bodyPr anchor="t" rtlCol="false" tIns="0" lIns="0" bIns="0" rIns="0">
            <a:spAutoFit/>
          </a:bodyPr>
          <a:lstStyle/>
          <a:p>
            <a:pPr algn="l" marL="0" indent="0" lvl="0">
              <a:lnSpc>
                <a:spcPts val="3355"/>
              </a:lnSpc>
            </a:pPr>
            <a:r>
              <a:rPr lang="en-US" sz="2397">
                <a:solidFill>
                  <a:srgbClr val="000000"/>
                </a:solidFill>
                <a:latin typeface="Garet"/>
                <a:ea typeface="Garet"/>
                <a:cs typeface="Garet"/>
                <a:sym typeface="Garet"/>
              </a:rPr>
              <a:t>Th</a:t>
            </a:r>
            <a:r>
              <a:rPr lang="en-US" sz="2397">
                <a:solidFill>
                  <a:srgbClr val="000000"/>
                </a:solidFill>
                <a:latin typeface="Garet"/>
                <a:ea typeface="Garet"/>
                <a:cs typeface="Garet"/>
                <a:sym typeface="Garet"/>
              </a:rPr>
              <a:t>e application uses PostgreSQL for persistent data storage, JDBC for database communication, and a layered architecture that separates the CLI, business logic, and database operations. PostgreSQL runs locally through Docker.</a:t>
            </a:r>
          </a:p>
        </p:txBody>
      </p:sp>
      <p:grpSp>
        <p:nvGrpSpPr>
          <p:cNvPr name="Group 12" id="12"/>
          <p:cNvGrpSpPr/>
          <p:nvPr/>
        </p:nvGrpSpPr>
        <p:grpSpPr>
          <a:xfrm rot="0">
            <a:off x="-2269039" y="-2269039"/>
            <a:ext cx="4538078" cy="45380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0312" y="8015892"/>
            <a:ext cx="6292076" cy="6155008"/>
            <a:chOff x="0" y="0"/>
            <a:chExt cx="376151" cy="367957"/>
          </a:xfrm>
        </p:grpSpPr>
        <p:sp>
          <p:nvSpPr>
            <p:cNvPr name="Freeform 3" id="3"/>
            <p:cNvSpPr/>
            <p:nvPr/>
          </p:nvSpPr>
          <p:spPr>
            <a:xfrm flipH="false" flipV="false" rot="0">
              <a:off x="0" y="0"/>
              <a:ext cx="376151" cy="367957"/>
            </a:xfrm>
            <a:custGeom>
              <a:avLst/>
              <a:gdLst/>
              <a:ahLst/>
              <a:cxnLst/>
              <a:rect r="r" b="b" t="t" l="l"/>
              <a:pathLst>
                <a:path h="367957" w="376151">
                  <a:moveTo>
                    <a:pt x="0" y="0"/>
                  </a:moveTo>
                  <a:lnTo>
                    <a:pt x="376151" y="0"/>
                  </a:lnTo>
                  <a:lnTo>
                    <a:pt x="376151" y="367957"/>
                  </a:lnTo>
                  <a:lnTo>
                    <a:pt x="0" y="367957"/>
                  </a:lnTo>
                  <a:close/>
                </a:path>
              </a:pathLst>
            </a:custGeom>
            <a:solidFill>
              <a:srgbClr val="E7FFCC"/>
            </a:solidFill>
          </p:spPr>
        </p:sp>
        <p:sp>
          <p:nvSpPr>
            <p:cNvPr name="TextBox 4" id="4"/>
            <p:cNvSpPr txBox="true"/>
            <p:nvPr/>
          </p:nvSpPr>
          <p:spPr>
            <a:xfrm>
              <a:off x="0" y="-28575"/>
              <a:ext cx="376151" cy="3965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120935" y="4010614"/>
            <a:ext cx="5941095" cy="4812287"/>
          </a:xfrm>
          <a:custGeom>
            <a:avLst/>
            <a:gdLst/>
            <a:ahLst/>
            <a:cxnLst/>
            <a:rect r="r" b="b" t="t" l="l"/>
            <a:pathLst>
              <a:path h="4812287" w="5941095">
                <a:moveTo>
                  <a:pt x="0" y="0"/>
                </a:moveTo>
                <a:lnTo>
                  <a:pt x="5941095" y="0"/>
                </a:lnTo>
                <a:lnTo>
                  <a:pt x="5941095" y="4812287"/>
                </a:lnTo>
                <a:lnTo>
                  <a:pt x="0" y="4812287"/>
                </a:lnTo>
                <a:lnTo>
                  <a:pt x="0" y="0"/>
                </a:lnTo>
                <a:close/>
              </a:path>
            </a:pathLst>
          </a:custGeom>
          <a:blipFill>
            <a:blip r:embed="rId2"/>
            <a:stretch>
              <a:fillRect l="0" t="0" r="0" b="0"/>
            </a:stretch>
          </a:blipFill>
        </p:spPr>
      </p:sp>
      <p:grpSp>
        <p:nvGrpSpPr>
          <p:cNvPr name="Group 6" id="6"/>
          <p:cNvGrpSpPr/>
          <p:nvPr/>
        </p:nvGrpSpPr>
        <p:grpSpPr>
          <a:xfrm rot="0">
            <a:off x="9982200" y="2065996"/>
            <a:ext cx="6292076" cy="6155008"/>
            <a:chOff x="0" y="0"/>
            <a:chExt cx="376151" cy="367957"/>
          </a:xfrm>
        </p:grpSpPr>
        <p:sp>
          <p:nvSpPr>
            <p:cNvPr name="Freeform 7" id="7"/>
            <p:cNvSpPr/>
            <p:nvPr/>
          </p:nvSpPr>
          <p:spPr>
            <a:xfrm flipH="false" flipV="false" rot="0">
              <a:off x="0" y="0"/>
              <a:ext cx="376151" cy="367957"/>
            </a:xfrm>
            <a:custGeom>
              <a:avLst/>
              <a:gdLst/>
              <a:ahLst/>
              <a:cxnLst/>
              <a:rect r="r" b="b" t="t" l="l"/>
              <a:pathLst>
                <a:path h="367957" w="376151">
                  <a:moveTo>
                    <a:pt x="0" y="0"/>
                  </a:moveTo>
                  <a:lnTo>
                    <a:pt x="376151" y="0"/>
                  </a:lnTo>
                  <a:lnTo>
                    <a:pt x="376151" y="367957"/>
                  </a:lnTo>
                  <a:lnTo>
                    <a:pt x="0" y="367957"/>
                  </a:lnTo>
                  <a:close/>
                </a:path>
              </a:pathLst>
            </a:custGeom>
            <a:solidFill>
              <a:srgbClr val="E7FFCC"/>
            </a:solidFill>
          </p:spPr>
        </p:sp>
        <p:sp>
          <p:nvSpPr>
            <p:cNvPr name="TextBox 8" id="8"/>
            <p:cNvSpPr txBox="true"/>
            <p:nvPr/>
          </p:nvSpPr>
          <p:spPr>
            <a:xfrm>
              <a:off x="0" y="-28575"/>
              <a:ext cx="376151" cy="3965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2484537" y="1864523"/>
            <a:ext cx="5203627" cy="877663"/>
          </a:xfrm>
          <a:prstGeom prst="rect">
            <a:avLst/>
          </a:prstGeom>
        </p:spPr>
        <p:txBody>
          <a:bodyPr anchor="t" rtlCol="false" tIns="0" lIns="0" bIns="0" rIns="0">
            <a:spAutoFit/>
          </a:bodyPr>
          <a:lstStyle/>
          <a:p>
            <a:pPr algn="ctr" marL="0" indent="0" lvl="0">
              <a:lnSpc>
                <a:spcPts val="7274"/>
              </a:lnSpc>
            </a:pPr>
            <a:r>
              <a:rPr lang="en-US" b="true" sz="5196">
                <a:solidFill>
                  <a:srgbClr val="347470"/>
                </a:solidFill>
                <a:latin typeface="Garet Bold"/>
                <a:ea typeface="Garet Bold"/>
                <a:cs typeface="Garet Bold"/>
                <a:sym typeface="Garet Bold"/>
              </a:rPr>
              <a:t>Key Features</a:t>
            </a:r>
          </a:p>
        </p:txBody>
      </p:sp>
      <p:sp>
        <p:nvSpPr>
          <p:cNvPr name="TextBox 10" id="10"/>
          <p:cNvSpPr txBox="true"/>
          <p:nvPr/>
        </p:nvSpPr>
        <p:spPr>
          <a:xfrm rot="0">
            <a:off x="11824764" y="2713610"/>
            <a:ext cx="2606948"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Ac</a:t>
            </a:r>
            <a:r>
              <a:rPr lang="en-US" sz="1386">
                <a:solidFill>
                  <a:srgbClr val="000000"/>
                </a:solidFill>
                <a:latin typeface="Garet"/>
                <a:ea typeface="Garet"/>
                <a:cs typeface="Garet"/>
                <a:sym typeface="Garet"/>
              </a:rPr>
              <a:t>count Registration &amp; Login</a:t>
            </a:r>
          </a:p>
          <a:p>
            <a:pPr algn="ctr" marL="0" indent="0" lvl="0">
              <a:lnSpc>
                <a:spcPts val="1941"/>
              </a:lnSpc>
            </a:pPr>
            <a:r>
              <a:rPr lang="en-US" sz="1386">
                <a:solidFill>
                  <a:srgbClr val="000000"/>
                </a:solidFill>
                <a:latin typeface="Garet"/>
                <a:ea typeface="Garet"/>
                <a:cs typeface="Garet"/>
                <a:sym typeface="Garet"/>
              </a:rPr>
              <a:t> Account ID with 4-digit PIN validation</a:t>
            </a:r>
          </a:p>
        </p:txBody>
      </p:sp>
      <p:sp>
        <p:nvSpPr>
          <p:cNvPr name="TextBox 11" id="11"/>
          <p:cNvSpPr txBox="true"/>
          <p:nvPr/>
        </p:nvSpPr>
        <p:spPr>
          <a:xfrm rot="0">
            <a:off x="11562678" y="3797329"/>
            <a:ext cx="3131121"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Balan</a:t>
            </a:r>
            <a:r>
              <a:rPr lang="en-US" sz="1386">
                <a:solidFill>
                  <a:srgbClr val="000000"/>
                </a:solidFill>
                <a:latin typeface="Garet"/>
                <a:ea typeface="Garet"/>
                <a:cs typeface="Garet"/>
                <a:sym typeface="Garet"/>
              </a:rPr>
              <a:t>ce Management</a:t>
            </a:r>
          </a:p>
          <a:p>
            <a:pPr algn="ctr" marL="0" indent="0" lvl="0">
              <a:lnSpc>
                <a:spcPts val="1941"/>
              </a:lnSpc>
            </a:pPr>
            <a:r>
              <a:rPr lang="en-US" sz="1386">
                <a:solidFill>
                  <a:srgbClr val="000000"/>
                </a:solidFill>
                <a:latin typeface="Garet"/>
                <a:ea typeface="Garet"/>
                <a:cs typeface="Garet"/>
                <a:sym typeface="Garet"/>
              </a:rPr>
              <a:t> Check balance, deposit, and withdraw funds</a:t>
            </a:r>
          </a:p>
        </p:txBody>
      </p:sp>
      <p:sp>
        <p:nvSpPr>
          <p:cNvPr name="TextBox 12" id="12"/>
          <p:cNvSpPr txBox="true"/>
          <p:nvPr/>
        </p:nvSpPr>
        <p:spPr>
          <a:xfrm rot="0">
            <a:off x="11403171" y="4876535"/>
            <a:ext cx="3450134"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S</a:t>
            </a:r>
            <a:r>
              <a:rPr lang="en-US" sz="1386">
                <a:solidFill>
                  <a:srgbClr val="000000"/>
                </a:solidFill>
                <a:latin typeface="Garet"/>
                <a:ea typeface="Garet"/>
                <a:cs typeface="Garet"/>
                <a:sym typeface="Garet"/>
              </a:rPr>
              <a:t>ecure Transfer Logic</a:t>
            </a:r>
          </a:p>
          <a:p>
            <a:pPr algn="ctr" marL="0" indent="0" lvl="0">
              <a:lnSpc>
                <a:spcPts val="1941"/>
              </a:lnSpc>
            </a:pPr>
            <a:r>
              <a:rPr lang="en-US" sz="1386">
                <a:solidFill>
                  <a:srgbClr val="000000"/>
                </a:solidFill>
                <a:latin typeface="Garet"/>
                <a:ea typeface="Garet"/>
                <a:cs typeface="Garet"/>
                <a:sym typeface="Garet"/>
              </a:rPr>
              <a:t> Transfer funds while preventing overdrafts</a:t>
            </a:r>
          </a:p>
        </p:txBody>
      </p:sp>
      <p:sp>
        <p:nvSpPr>
          <p:cNvPr name="TextBox 13" id="13"/>
          <p:cNvSpPr txBox="true"/>
          <p:nvPr/>
        </p:nvSpPr>
        <p:spPr>
          <a:xfrm rot="0">
            <a:off x="11673820" y="5955742"/>
            <a:ext cx="2908837"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Transaction History</a:t>
            </a:r>
          </a:p>
          <a:p>
            <a:pPr algn="ctr" marL="0" indent="0" lvl="0">
              <a:lnSpc>
                <a:spcPts val="1941"/>
              </a:lnSpc>
            </a:pPr>
            <a:r>
              <a:rPr lang="en-US" sz="1386">
                <a:solidFill>
                  <a:srgbClr val="000000"/>
                </a:solidFill>
                <a:latin typeface="Garet"/>
                <a:ea typeface="Garet"/>
                <a:cs typeface="Garet"/>
                <a:sym typeface="Garet"/>
              </a:rPr>
              <a:t> Store and retrieve recent account transactions</a:t>
            </a:r>
          </a:p>
        </p:txBody>
      </p:sp>
      <p:sp>
        <p:nvSpPr>
          <p:cNvPr name="Freeform 14" id="14"/>
          <p:cNvSpPr/>
          <p:nvPr/>
        </p:nvSpPr>
        <p:spPr>
          <a:xfrm flipH="false" flipV="false" rot="0">
            <a:off x="15755584" y="7270951"/>
            <a:ext cx="1037384" cy="1489881"/>
          </a:xfrm>
          <a:custGeom>
            <a:avLst/>
            <a:gdLst/>
            <a:ahLst/>
            <a:cxnLst/>
            <a:rect r="r" b="b" t="t" l="l"/>
            <a:pathLst>
              <a:path h="1489881" w="1037384">
                <a:moveTo>
                  <a:pt x="0" y="0"/>
                </a:moveTo>
                <a:lnTo>
                  <a:pt x="1037384" y="0"/>
                </a:lnTo>
                <a:lnTo>
                  <a:pt x="1037384" y="1489881"/>
                </a:lnTo>
                <a:lnTo>
                  <a:pt x="0" y="1489881"/>
                </a:lnTo>
                <a:lnTo>
                  <a:pt x="0" y="0"/>
                </a:lnTo>
                <a:close/>
              </a:path>
            </a:pathLst>
          </a:custGeom>
          <a:blipFill>
            <a:blip r:embed="rId3">
              <a:extLst>
                <a:ext uri="{96DAC541-7B7A-43D3-8B79-37D633B846F1}">
                  <asvg:svgBlip xmlns:asvg="http://schemas.microsoft.com/office/drawing/2016/SVG/main" r:embed="rId4"/>
                </a:ext>
              </a:extLst>
            </a:blip>
            <a:stretch>
              <a:fillRect l="-375949" t="0" r="0" b="-222270"/>
            </a:stretch>
          </a:blipFill>
        </p:spPr>
      </p:sp>
      <p:sp>
        <p:nvSpPr>
          <p:cNvPr name="TextBox 15" id="15"/>
          <p:cNvSpPr txBox="true"/>
          <p:nvPr/>
        </p:nvSpPr>
        <p:spPr>
          <a:xfrm rot="0">
            <a:off x="11824764" y="7242376"/>
            <a:ext cx="2606948"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L</a:t>
            </a:r>
            <a:r>
              <a:rPr lang="en-US" sz="1386">
                <a:solidFill>
                  <a:srgbClr val="000000"/>
                </a:solidFill>
                <a:latin typeface="Garet"/>
                <a:ea typeface="Garet"/>
                <a:cs typeface="Garet"/>
                <a:sym typeface="Garet"/>
              </a:rPr>
              <a:t>ogging &amp; Error Handling</a:t>
            </a:r>
          </a:p>
          <a:p>
            <a:pPr algn="ctr" marL="0" indent="0" lvl="0">
              <a:lnSpc>
                <a:spcPts val="1941"/>
              </a:lnSpc>
            </a:pPr>
            <a:r>
              <a:rPr lang="en-US" sz="1386">
                <a:solidFill>
                  <a:srgbClr val="000000"/>
                </a:solidFill>
                <a:latin typeface="Garet"/>
                <a:ea typeface="Garet"/>
                <a:cs typeface="Garet"/>
                <a:sym typeface="Garet"/>
              </a:rPr>
              <a:t> Track successful actions and application failures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59946" y="1959773"/>
            <a:ext cx="6292076" cy="2742664"/>
            <a:chOff x="0" y="0"/>
            <a:chExt cx="376151" cy="163961"/>
          </a:xfrm>
        </p:grpSpPr>
        <p:sp>
          <p:nvSpPr>
            <p:cNvPr name="Freeform 3" id="3"/>
            <p:cNvSpPr/>
            <p:nvPr/>
          </p:nvSpPr>
          <p:spPr>
            <a:xfrm flipH="false" flipV="false" rot="0">
              <a:off x="0" y="0"/>
              <a:ext cx="376151" cy="163961"/>
            </a:xfrm>
            <a:custGeom>
              <a:avLst/>
              <a:gdLst/>
              <a:ahLst/>
              <a:cxnLst/>
              <a:rect r="r" b="b" t="t" l="l"/>
              <a:pathLst>
                <a:path h="163961" w="376151">
                  <a:moveTo>
                    <a:pt x="0" y="0"/>
                  </a:moveTo>
                  <a:lnTo>
                    <a:pt x="376151" y="0"/>
                  </a:lnTo>
                  <a:lnTo>
                    <a:pt x="376151" y="163961"/>
                  </a:lnTo>
                  <a:lnTo>
                    <a:pt x="0" y="163961"/>
                  </a:lnTo>
                  <a:close/>
                </a:path>
              </a:pathLst>
            </a:custGeom>
            <a:solidFill>
              <a:srgbClr val="E7FFCC"/>
            </a:solidFill>
          </p:spPr>
        </p:sp>
        <p:sp>
          <p:nvSpPr>
            <p:cNvPr name="TextBox 4" id="4"/>
            <p:cNvSpPr txBox="true"/>
            <p:nvPr/>
          </p:nvSpPr>
          <p:spPr>
            <a:xfrm>
              <a:off x="0" y="-28575"/>
              <a:ext cx="376151" cy="1925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121464" y="2924524"/>
            <a:ext cx="5441021" cy="1883953"/>
          </a:xfrm>
          <a:custGeom>
            <a:avLst/>
            <a:gdLst/>
            <a:ahLst/>
            <a:cxnLst/>
            <a:rect r="r" b="b" t="t" l="l"/>
            <a:pathLst>
              <a:path h="1883953" w="5441021">
                <a:moveTo>
                  <a:pt x="0" y="0"/>
                </a:moveTo>
                <a:lnTo>
                  <a:pt x="5441021" y="0"/>
                </a:lnTo>
                <a:lnTo>
                  <a:pt x="5441021" y="1883953"/>
                </a:lnTo>
                <a:lnTo>
                  <a:pt x="0" y="1883953"/>
                </a:lnTo>
                <a:lnTo>
                  <a:pt x="0" y="0"/>
                </a:lnTo>
                <a:close/>
              </a:path>
            </a:pathLst>
          </a:custGeom>
          <a:blipFill>
            <a:blip r:embed="rId2"/>
            <a:stretch>
              <a:fillRect l="0" t="0" r="0" b="0"/>
            </a:stretch>
          </a:blipFill>
        </p:spPr>
      </p:sp>
      <p:sp>
        <p:nvSpPr>
          <p:cNvPr name="TextBox 6" id="6"/>
          <p:cNvSpPr txBox="true"/>
          <p:nvPr/>
        </p:nvSpPr>
        <p:spPr>
          <a:xfrm rot="0">
            <a:off x="1820033" y="6059200"/>
            <a:ext cx="4632838" cy="2192913"/>
          </a:xfrm>
          <a:prstGeom prst="rect">
            <a:avLst/>
          </a:prstGeom>
        </p:spPr>
        <p:txBody>
          <a:bodyPr anchor="t" rtlCol="false" tIns="0" lIns="0" bIns="0" rIns="0">
            <a:spAutoFit/>
          </a:bodyPr>
          <a:lstStyle/>
          <a:p>
            <a:pPr algn="l" marL="0" indent="0" lvl="0">
              <a:lnSpc>
                <a:spcPts val="2505"/>
              </a:lnSpc>
            </a:pPr>
            <a:r>
              <a:rPr lang="en-US" sz="1789">
                <a:solidFill>
                  <a:srgbClr val="000000"/>
                </a:solidFill>
                <a:latin typeface="Garet"/>
                <a:ea typeface="Garet"/>
                <a:cs typeface="Garet"/>
                <a:sym typeface="Garet"/>
              </a:rPr>
              <a:t>API Layer </a:t>
            </a:r>
          </a:p>
          <a:p>
            <a:pPr algn="l" marL="0" indent="0" lvl="0">
              <a:lnSpc>
                <a:spcPts val="2505"/>
              </a:lnSpc>
            </a:pPr>
            <a:r>
              <a:rPr lang="en-US" sz="1789">
                <a:solidFill>
                  <a:srgbClr val="000000"/>
                </a:solidFill>
                <a:latin typeface="Garet"/>
                <a:ea typeface="Garet"/>
                <a:cs typeface="Garet"/>
                <a:sym typeface="Garet"/>
              </a:rPr>
              <a:t>Handles terminal menus, Scanner input, user prompts, and output. It communicates only with the service layer.</a:t>
            </a:r>
          </a:p>
          <a:p>
            <a:pPr algn="l" marL="0" indent="0" lvl="0">
              <a:lnSpc>
                <a:spcPts val="2505"/>
              </a:lnSpc>
            </a:pPr>
          </a:p>
          <a:p>
            <a:pPr algn="l" marL="0" indent="0" lvl="0">
              <a:lnSpc>
                <a:spcPts val="2505"/>
              </a:lnSpc>
            </a:pPr>
          </a:p>
        </p:txBody>
      </p:sp>
      <p:sp>
        <p:nvSpPr>
          <p:cNvPr name="TextBox 7" id="7"/>
          <p:cNvSpPr txBox="true"/>
          <p:nvPr/>
        </p:nvSpPr>
        <p:spPr>
          <a:xfrm rot="0">
            <a:off x="6827581" y="6059200"/>
            <a:ext cx="4632838" cy="1564263"/>
          </a:xfrm>
          <a:prstGeom prst="rect">
            <a:avLst/>
          </a:prstGeom>
        </p:spPr>
        <p:txBody>
          <a:bodyPr anchor="t" rtlCol="false" tIns="0" lIns="0" bIns="0" rIns="0">
            <a:spAutoFit/>
          </a:bodyPr>
          <a:lstStyle/>
          <a:p>
            <a:pPr algn="l" marL="0" indent="0" lvl="0">
              <a:lnSpc>
                <a:spcPts val="2505"/>
              </a:lnSpc>
            </a:pPr>
            <a:r>
              <a:rPr lang="en-US" sz="1789">
                <a:solidFill>
                  <a:srgbClr val="000000"/>
                </a:solidFill>
                <a:latin typeface="Garet"/>
                <a:ea typeface="Garet"/>
                <a:cs typeface="Garet"/>
                <a:sym typeface="Garet"/>
              </a:rPr>
              <a:t>Service Layer</a:t>
            </a:r>
          </a:p>
          <a:p>
            <a:pPr algn="l" marL="0" indent="0" lvl="0">
              <a:lnSpc>
                <a:spcPts val="2505"/>
              </a:lnSpc>
            </a:pPr>
            <a:r>
              <a:rPr lang="en-US" sz="1789">
                <a:solidFill>
                  <a:srgbClr val="000000"/>
                </a:solidFill>
                <a:latin typeface="Garet"/>
                <a:ea typeface="Garet"/>
                <a:cs typeface="Garet"/>
                <a:sym typeface="Garet"/>
              </a:rPr>
              <a:t>Contains banking rules such as PIN validation, insufficient-funds checks, deposits, withdrawals, transfers, and transaction handling.</a:t>
            </a:r>
          </a:p>
        </p:txBody>
      </p:sp>
      <p:sp>
        <p:nvSpPr>
          <p:cNvPr name="TextBox 8" id="8"/>
          <p:cNvSpPr txBox="true"/>
          <p:nvPr/>
        </p:nvSpPr>
        <p:spPr>
          <a:xfrm rot="0">
            <a:off x="11835129" y="6059200"/>
            <a:ext cx="4632838" cy="1249938"/>
          </a:xfrm>
          <a:prstGeom prst="rect">
            <a:avLst/>
          </a:prstGeom>
        </p:spPr>
        <p:txBody>
          <a:bodyPr anchor="t" rtlCol="false" tIns="0" lIns="0" bIns="0" rIns="0">
            <a:spAutoFit/>
          </a:bodyPr>
          <a:lstStyle/>
          <a:p>
            <a:pPr algn="l" marL="0" indent="0" lvl="0">
              <a:lnSpc>
                <a:spcPts val="2505"/>
              </a:lnSpc>
            </a:pPr>
            <a:r>
              <a:rPr lang="en-US" sz="1789">
                <a:solidFill>
                  <a:srgbClr val="000000"/>
                </a:solidFill>
                <a:latin typeface="Garet"/>
                <a:ea typeface="Garet"/>
                <a:cs typeface="Garet"/>
                <a:sym typeface="Garet"/>
              </a:rPr>
              <a:t>Repository Layer</a:t>
            </a:r>
          </a:p>
          <a:p>
            <a:pPr algn="l" marL="0" indent="0" lvl="0">
              <a:lnSpc>
                <a:spcPts val="2505"/>
              </a:lnSpc>
            </a:pPr>
            <a:r>
              <a:rPr lang="en-US" sz="1789">
                <a:solidFill>
                  <a:srgbClr val="000000"/>
                </a:solidFill>
                <a:latin typeface="Garet"/>
                <a:ea typeface="Garet"/>
                <a:cs typeface="Garet"/>
                <a:sym typeface="Garet"/>
              </a:rPr>
              <a:t>Uses JDBC and SQL to communicate with PostgreSQL and convert database rows into Java objects.</a:t>
            </a:r>
          </a:p>
        </p:txBody>
      </p:sp>
      <p:sp>
        <p:nvSpPr>
          <p:cNvPr name="TextBox 9" id="9"/>
          <p:cNvSpPr txBox="true"/>
          <p:nvPr/>
        </p:nvSpPr>
        <p:spPr>
          <a:xfrm rot="0">
            <a:off x="2335979" y="2839932"/>
            <a:ext cx="5944493" cy="1792063"/>
          </a:xfrm>
          <a:prstGeom prst="rect">
            <a:avLst/>
          </a:prstGeom>
        </p:spPr>
        <p:txBody>
          <a:bodyPr anchor="t" rtlCol="false" tIns="0" lIns="0" bIns="0" rIns="0">
            <a:spAutoFit/>
          </a:bodyPr>
          <a:lstStyle/>
          <a:p>
            <a:pPr algn="l" marL="0" indent="0" lvl="0">
              <a:lnSpc>
                <a:spcPts val="7274"/>
              </a:lnSpc>
            </a:pPr>
            <a:r>
              <a:rPr lang="en-US" b="true" sz="5196">
                <a:solidFill>
                  <a:srgbClr val="347470"/>
                </a:solidFill>
                <a:latin typeface="Garet Bold"/>
                <a:ea typeface="Garet Bold"/>
                <a:cs typeface="Garet Bold"/>
                <a:sym typeface="Garet Bold"/>
              </a:rPr>
              <a:t>Architecture Overview</a:t>
            </a:r>
          </a:p>
        </p:txBody>
      </p:sp>
      <p:grpSp>
        <p:nvGrpSpPr>
          <p:cNvPr name="Group 10" id="10"/>
          <p:cNvGrpSpPr/>
          <p:nvPr/>
        </p:nvGrpSpPr>
        <p:grpSpPr>
          <a:xfrm rot="0">
            <a:off x="-1908252" y="-1998391"/>
            <a:ext cx="4528369" cy="45283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5EC57E"/>
              </a:solidFill>
              <a:prstDash val="solid"/>
              <a:miter/>
            </a:ln>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5783157" y="8173596"/>
            <a:ext cx="5009685" cy="500968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6" id="16"/>
          <p:cNvSpPr/>
          <p:nvPr/>
        </p:nvSpPr>
        <p:spPr>
          <a:xfrm flipH="false" flipV="false" rot="0">
            <a:off x="15264465" y="1445300"/>
            <a:ext cx="1037384" cy="1489881"/>
          </a:xfrm>
          <a:custGeom>
            <a:avLst/>
            <a:gdLst/>
            <a:ahLst/>
            <a:cxnLst/>
            <a:rect r="r" b="b" t="t" l="l"/>
            <a:pathLst>
              <a:path h="1489881" w="1037384">
                <a:moveTo>
                  <a:pt x="0" y="0"/>
                </a:moveTo>
                <a:lnTo>
                  <a:pt x="1037384" y="0"/>
                </a:lnTo>
                <a:lnTo>
                  <a:pt x="1037384" y="1489882"/>
                </a:lnTo>
                <a:lnTo>
                  <a:pt x="0" y="1489882"/>
                </a:lnTo>
                <a:lnTo>
                  <a:pt x="0" y="0"/>
                </a:lnTo>
                <a:close/>
              </a:path>
            </a:pathLst>
          </a:custGeom>
          <a:blipFill>
            <a:blip r:embed="rId3">
              <a:extLst>
                <a:ext uri="{96DAC541-7B7A-43D3-8B79-37D633B846F1}">
                  <asvg:svgBlip xmlns:asvg="http://schemas.microsoft.com/office/drawing/2016/SVG/main" r:embed="rId4"/>
                </a:ext>
              </a:extLst>
            </a:blip>
            <a:stretch>
              <a:fillRect l="-375949" t="0" r="0" b="-222270"/>
            </a:stretch>
          </a:blipFill>
        </p:spPr>
      </p:sp>
      <p:sp>
        <p:nvSpPr>
          <p:cNvPr name="TextBox 17" id="17"/>
          <p:cNvSpPr txBox="true"/>
          <p:nvPr/>
        </p:nvSpPr>
        <p:spPr>
          <a:xfrm rot="0">
            <a:off x="2116906" y="8185437"/>
            <a:ext cx="13445579"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User</a:t>
            </a:r>
            <a:r>
              <a:rPr lang="en-US" sz="3399">
                <a:solidFill>
                  <a:srgbClr val="000000"/>
                </a:solidFill>
                <a:latin typeface="Canva Sans"/>
                <a:ea typeface="Canva Sans"/>
                <a:cs typeface="Canva Sans"/>
                <a:sym typeface="Canva Sans"/>
              </a:rPr>
              <a:t> → BankCli → BankService → Repository → JDBC → PostgreSQL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44538" y="2686061"/>
            <a:ext cx="9144000" cy="4914879"/>
            <a:chOff x="0" y="0"/>
            <a:chExt cx="546644" cy="293820"/>
          </a:xfrm>
        </p:grpSpPr>
        <p:sp>
          <p:nvSpPr>
            <p:cNvPr name="Freeform 3" id="3"/>
            <p:cNvSpPr/>
            <p:nvPr/>
          </p:nvSpPr>
          <p:spPr>
            <a:xfrm flipH="false" flipV="false" rot="0">
              <a:off x="0" y="0"/>
              <a:ext cx="546644" cy="293820"/>
            </a:xfrm>
            <a:custGeom>
              <a:avLst/>
              <a:gdLst/>
              <a:ahLst/>
              <a:cxnLst/>
              <a:rect r="r" b="b" t="t" l="l"/>
              <a:pathLst>
                <a:path h="293820" w="546644">
                  <a:moveTo>
                    <a:pt x="0" y="0"/>
                  </a:moveTo>
                  <a:lnTo>
                    <a:pt x="546644" y="0"/>
                  </a:lnTo>
                  <a:lnTo>
                    <a:pt x="546644" y="293820"/>
                  </a:lnTo>
                  <a:lnTo>
                    <a:pt x="0" y="293820"/>
                  </a:lnTo>
                  <a:close/>
                </a:path>
              </a:pathLst>
            </a:custGeom>
            <a:solidFill>
              <a:srgbClr val="E7FFCC"/>
            </a:solidFill>
          </p:spPr>
        </p:sp>
        <p:sp>
          <p:nvSpPr>
            <p:cNvPr name="TextBox 4" id="4"/>
            <p:cNvSpPr txBox="true"/>
            <p:nvPr/>
          </p:nvSpPr>
          <p:spPr>
            <a:xfrm>
              <a:off x="0" y="-28575"/>
              <a:ext cx="546644" cy="32239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2430952" y="5419199"/>
            <a:ext cx="3971172" cy="3138929"/>
            <a:chOff x="0" y="0"/>
            <a:chExt cx="1028303" cy="812800"/>
          </a:xfrm>
        </p:grpSpPr>
        <p:sp>
          <p:nvSpPr>
            <p:cNvPr name="Freeform 6" id="6"/>
            <p:cNvSpPr/>
            <p:nvPr/>
          </p:nvSpPr>
          <p:spPr>
            <a:xfrm flipH="false" flipV="false" rot="0">
              <a:off x="0" y="0"/>
              <a:ext cx="1028303" cy="812800"/>
            </a:xfrm>
            <a:custGeom>
              <a:avLst/>
              <a:gdLst/>
              <a:ahLst/>
              <a:cxnLst/>
              <a:rect r="r" b="b" t="t" l="l"/>
              <a:pathLst>
                <a:path h="812800" w="1028303">
                  <a:moveTo>
                    <a:pt x="0" y="0"/>
                  </a:moveTo>
                  <a:lnTo>
                    <a:pt x="1028303" y="0"/>
                  </a:lnTo>
                  <a:lnTo>
                    <a:pt x="1028303" y="812800"/>
                  </a:lnTo>
                  <a:lnTo>
                    <a:pt x="0" y="812800"/>
                  </a:lnTo>
                  <a:close/>
                </a:path>
              </a:pathLst>
            </a:custGeom>
            <a:blipFill>
              <a:blip r:embed="rId2"/>
              <a:stretch>
                <a:fillRect l="0" t="-5854" r="0" b="-5854"/>
              </a:stretch>
            </a:blipFill>
          </p:spPr>
        </p:sp>
      </p:grpSp>
      <p:grpSp>
        <p:nvGrpSpPr>
          <p:cNvPr name="Group 7" id="7"/>
          <p:cNvGrpSpPr/>
          <p:nvPr/>
        </p:nvGrpSpPr>
        <p:grpSpPr>
          <a:xfrm rot="0">
            <a:off x="1028700" y="4667788"/>
            <a:ext cx="5928103" cy="2933152"/>
            <a:chOff x="0" y="0"/>
            <a:chExt cx="354392" cy="175349"/>
          </a:xfrm>
        </p:grpSpPr>
        <p:sp>
          <p:nvSpPr>
            <p:cNvPr name="Freeform 8" id="8"/>
            <p:cNvSpPr/>
            <p:nvPr/>
          </p:nvSpPr>
          <p:spPr>
            <a:xfrm flipH="false" flipV="false" rot="0">
              <a:off x="0" y="0"/>
              <a:ext cx="354392" cy="175349"/>
            </a:xfrm>
            <a:custGeom>
              <a:avLst/>
              <a:gdLst/>
              <a:ahLst/>
              <a:cxnLst/>
              <a:rect r="r" b="b" t="t" l="l"/>
              <a:pathLst>
                <a:path h="175349" w="354392">
                  <a:moveTo>
                    <a:pt x="0" y="0"/>
                  </a:moveTo>
                  <a:lnTo>
                    <a:pt x="354392" y="0"/>
                  </a:lnTo>
                  <a:lnTo>
                    <a:pt x="354392" y="175349"/>
                  </a:lnTo>
                  <a:lnTo>
                    <a:pt x="0" y="175349"/>
                  </a:lnTo>
                  <a:close/>
                </a:path>
              </a:pathLst>
            </a:custGeom>
            <a:solidFill>
              <a:srgbClr val="E7FFCC"/>
            </a:solidFill>
          </p:spPr>
        </p:sp>
        <p:sp>
          <p:nvSpPr>
            <p:cNvPr name="TextBox 9" id="9"/>
            <p:cNvSpPr txBox="true"/>
            <p:nvPr/>
          </p:nvSpPr>
          <p:spPr>
            <a:xfrm>
              <a:off x="0" y="-28575"/>
              <a:ext cx="354392" cy="20392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3375393" y="4671155"/>
            <a:ext cx="4358084" cy="2898126"/>
          </a:xfrm>
          <a:custGeom>
            <a:avLst/>
            <a:gdLst/>
            <a:ahLst/>
            <a:cxnLst/>
            <a:rect r="r" b="b" t="t" l="l"/>
            <a:pathLst>
              <a:path h="2898126" w="4358084">
                <a:moveTo>
                  <a:pt x="0" y="0"/>
                </a:moveTo>
                <a:lnTo>
                  <a:pt x="4358084" y="0"/>
                </a:lnTo>
                <a:lnTo>
                  <a:pt x="4358084" y="2898125"/>
                </a:lnTo>
                <a:lnTo>
                  <a:pt x="0" y="2898125"/>
                </a:lnTo>
                <a:lnTo>
                  <a:pt x="0" y="0"/>
                </a:lnTo>
                <a:close/>
              </a:path>
            </a:pathLst>
          </a:custGeom>
          <a:blipFill>
            <a:blip r:embed="rId3"/>
            <a:stretch>
              <a:fillRect l="0" t="0" r="0" b="0"/>
            </a:stretch>
          </a:blipFill>
        </p:spPr>
      </p:sp>
      <p:sp>
        <p:nvSpPr>
          <p:cNvPr name="Freeform 11" id="11"/>
          <p:cNvSpPr/>
          <p:nvPr/>
        </p:nvSpPr>
        <p:spPr>
          <a:xfrm flipH="false" flipV="false" rot="-7622678">
            <a:off x="1580128" y="4428022"/>
            <a:ext cx="1598087" cy="2839943"/>
          </a:xfrm>
          <a:custGeom>
            <a:avLst/>
            <a:gdLst/>
            <a:ahLst/>
            <a:cxnLst/>
            <a:rect r="r" b="b" t="t" l="l"/>
            <a:pathLst>
              <a:path h="2839943" w="1598087">
                <a:moveTo>
                  <a:pt x="0" y="0"/>
                </a:moveTo>
                <a:lnTo>
                  <a:pt x="1598086" y="0"/>
                </a:lnTo>
                <a:lnTo>
                  <a:pt x="1598086" y="2839944"/>
                </a:lnTo>
                <a:lnTo>
                  <a:pt x="0" y="2839944"/>
                </a:lnTo>
                <a:lnTo>
                  <a:pt x="0" y="0"/>
                </a:lnTo>
                <a:close/>
              </a:path>
            </a:pathLst>
          </a:custGeom>
          <a:blipFill>
            <a:blip r:embed="rId4"/>
            <a:stretch>
              <a:fillRect l="0" t="0" r="0" b="0"/>
            </a:stretch>
          </a:blipFill>
        </p:spPr>
      </p:sp>
      <p:sp>
        <p:nvSpPr>
          <p:cNvPr name="Freeform 12" id="12"/>
          <p:cNvSpPr/>
          <p:nvPr/>
        </p:nvSpPr>
        <p:spPr>
          <a:xfrm flipH="false" flipV="false" rot="0">
            <a:off x="7585546" y="2390440"/>
            <a:ext cx="4517985" cy="1964341"/>
          </a:xfrm>
          <a:custGeom>
            <a:avLst/>
            <a:gdLst/>
            <a:ahLst/>
            <a:cxnLst/>
            <a:rect r="r" b="b" t="t" l="l"/>
            <a:pathLst>
              <a:path h="1964341" w="4517985">
                <a:moveTo>
                  <a:pt x="0" y="0"/>
                </a:moveTo>
                <a:lnTo>
                  <a:pt x="4517984" y="0"/>
                </a:lnTo>
                <a:lnTo>
                  <a:pt x="4517984" y="1964341"/>
                </a:lnTo>
                <a:lnTo>
                  <a:pt x="0" y="1964341"/>
                </a:lnTo>
                <a:lnTo>
                  <a:pt x="0" y="0"/>
                </a:lnTo>
                <a:close/>
              </a:path>
            </a:pathLst>
          </a:custGeom>
          <a:blipFill>
            <a:blip r:embed="rId5"/>
            <a:stretch>
              <a:fillRect l="0" t="0" r="0" b="0"/>
            </a:stretch>
          </a:blipFill>
        </p:spPr>
      </p:sp>
      <p:sp>
        <p:nvSpPr>
          <p:cNvPr name="Freeform 13" id="13"/>
          <p:cNvSpPr/>
          <p:nvPr/>
        </p:nvSpPr>
        <p:spPr>
          <a:xfrm flipH="false" flipV="false" rot="0">
            <a:off x="7362525" y="5963002"/>
            <a:ext cx="4964026" cy="1378205"/>
          </a:xfrm>
          <a:custGeom>
            <a:avLst/>
            <a:gdLst/>
            <a:ahLst/>
            <a:cxnLst/>
            <a:rect r="r" b="b" t="t" l="l"/>
            <a:pathLst>
              <a:path h="1378205" w="4964026">
                <a:moveTo>
                  <a:pt x="0" y="0"/>
                </a:moveTo>
                <a:lnTo>
                  <a:pt x="4964026" y="0"/>
                </a:lnTo>
                <a:lnTo>
                  <a:pt x="4964026" y="1378205"/>
                </a:lnTo>
                <a:lnTo>
                  <a:pt x="0" y="1378205"/>
                </a:lnTo>
                <a:lnTo>
                  <a:pt x="0" y="0"/>
                </a:lnTo>
                <a:close/>
              </a:path>
            </a:pathLst>
          </a:custGeom>
          <a:blipFill>
            <a:blip r:embed="rId6"/>
            <a:stretch>
              <a:fillRect l="-3053" t="0" r="-3053" b="0"/>
            </a:stretch>
          </a:blipFill>
        </p:spPr>
      </p:sp>
      <p:sp>
        <p:nvSpPr>
          <p:cNvPr name="Freeform 14" id="14"/>
          <p:cNvSpPr/>
          <p:nvPr/>
        </p:nvSpPr>
        <p:spPr>
          <a:xfrm flipH="false" flipV="false" rot="0">
            <a:off x="12326551" y="2390440"/>
            <a:ext cx="4494376" cy="2022469"/>
          </a:xfrm>
          <a:custGeom>
            <a:avLst/>
            <a:gdLst/>
            <a:ahLst/>
            <a:cxnLst/>
            <a:rect r="r" b="b" t="t" l="l"/>
            <a:pathLst>
              <a:path h="2022469" w="4494376">
                <a:moveTo>
                  <a:pt x="0" y="0"/>
                </a:moveTo>
                <a:lnTo>
                  <a:pt x="4494376" y="0"/>
                </a:lnTo>
                <a:lnTo>
                  <a:pt x="4494376" y="2022469"/>
                </a:lnTo>
                <a:lnTo>
                  <a:pt x="0" y="2022469"/>
                </a:lnTo>
                <a:lnTo>
                  <a:pt x="0" y="0"/>
                </a:lnTo>
                <a:close/>
              </a:path>
            </a:pathLst>
          </a:custGeom>
          <a:blipFill>
            <a:blip r:embed="rId7"/>
            <a:stretch>
              <a:fillRect l="0" t="0" r="0" b="0"/>
            </a:stretch>
          </a:blipFill>
        </p:spPr>
      </p:sp>
      <p:sp>
        <p:nvSpPr>
          <p:cNvPr name="TextBox 15" id="15"/>
          <p:cNvSpPr txBox="true"/>
          <p:nvPr/>
        </p:nvSpPr>
        <p:spPr>
          <a:xfrm rot="0">
            <a:off x="1181148" y="2807164"/>
            <a:ext cx="5623206" cy="1704418"/>
          </a:xfrm>
          <a:prstGeom prst="rect">
            <a:avLst/>
          </a:prstGeom>
        </p:spPr>
        <p:txBody>
          <a:bodyPr anchor="t" rtlCol="false" tIns="0" lIns="0" bIns="0" rIns="0">
            <a:spAutoFit/>
          </a:bodyPr>
          <a:lstStyle/>
          <a:p>
            <a:pPr algn="ctr" marL="0" indent="0" lvl="0">
              <a:lnSpc>
                <a:spcPts val="6855"/>
              </a:lnSpc>
            </a:pPr>
            <a:r>
              <a:rPr lang="en-US" b="true" sz="4896">
                <a:solidFill>
                  <a:srgbClr val="347470"/>
                </a:solidFill>
                <a:latin typeface="Garet Bold"/>
                <a:ea typeface="Garet Bold"/>
                <a:cs typeface="Garet Bold"/>
                <a:sym typeface="Garet Bold"/>
              </a:rPr>
              <a:t>Application Demo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6428009"/>
            <a:ext cx="2187560" cy="3858991"/>
          </a:xfrm>
          <a:custGeom>
            <a:avLst/>
            <a:gdLst/>
            <a:ahLst/>
            <a:cxnLst/>
            <a:rect r="r" b="b" t="t" l="l"/>
            <a:pathLst>
              <a:path h="3858991" w="2187560">
                <a:moveTo>
                  <a:pt x="0" y="0"/>
                </a:moveTo>
                <a:lnTo>
                  <a:pt x="2187560" y="0"/>
                </a:lnTo>
                <a:lnTo>
                  <a:pt x="2187560" y="3858991"/>
                </a:lnTo>
                <a:lnTo>
                  <a:pt x="0" y="3858991"/>
                </a:lnTo>
                <a:lnTo>
                  <a:pt x="0" y="0"/>
                </a:lnTo>
                <a:close/>
              </a:path>
            </a:pathLst>
          </a:custGeom>
          <a:blipFill>
            <a:blip r:embed="rId3"/>
            <a:stretch>
              <a:fillRect l="0" t="0" r="0" b="0"/>
            </a:stretch>
          </a:blipFill>
        </p:spPr>
      </p:sp>
      <p:sp>
        <p:nvSpPr>
          <p:cNvPr name="Freeform 4" id="4"/>
          <p:cNvSpPr/>
          <p:nvPr/>
        </p:nvSpPr>
        <p:spPr>
          <a:xfrm flipH="false" flipV="false" rot="0">
            <a:off x="1957866" y="2995365"/>
            <a:ext cx="7186134" cy="6657580"/>
          </a:xfrm>
          <a:custGeom>
            <a:avLst/>
            <a:gdLst/>
            <a:ahLst/>
            <a:cxnLst/>
            <a:rect r="r" b="b" t="t" l="l"/>
            <a:pathLst>
              <a:path h="6657580" w="7186134">
                <a:moveTo>
                  <a:pt x="0" y="0"/>
                </a:moveTo>
                <a:lnTo>
                  <a:pt x="7186134" y="0"/>
                </a:lnTo>
                <a:lnTo>
                  <a:pt x="7186134" y="6657580"/>
                </a:lnTo>
                <a:lnTo>
                  <a:pt x="0" y="6657580"/>
                </a:lnTo>
                <a:lnTo>
                  <a:pt x="0" y="0"/>
                </a:lnTo>
                <a:close/>
              </a:path>
            </a:pathLst>
          </a:custGeom>
          <a:blipFill>
            <a:blip r:embed="rId4"/>
            <a:stretch>
              <a:fillRect l="0" t="0" r="0" b="0"/>
            </a:stretch>
          </a:blipFill>
        </p:spPr>
      </p:sp>
      <p:sp>
        <p:nvSpPr>
          <p:cNvPr name="Freeform 5" id="5"/>
          <p:cNvSpPr/>
          <p:nvPr/>
        </p:nvSpPr>
        <p:spPr>
          <a:xfrm flipH="false" flipV="false" rot="0">
            <a:off x="9789330" y="426348"/>
            <a:ext cx="7853340" cy="1289974"/>
          </a:xfrm>
          <a:custGeom>
            <a:avLst/>
            <a:gdLst/>
            <a:ahLst/>
            <a:cxnLst/>
            <a:rect r="r" b="b" t="t" l="l"/>
            <a:pathLst>
              <a:path h="1289974" w="7853340">
                <a:moveTo>
                  <a:pt x="0" y="0"/>
                </a:moveTo>
                <a:lnTo>
                  <a:pt x="7853340" y="0"/>
                </a:lnTo>
                <a:lnTo>
                  <a:pt x="7853340" y="1289974"/>
                </a:lnTo>
                <a:lnTo>
                  <a:pt x="0" y="1289974"/>
                </a:lnTo>
                <a:lnTo>
                  <a:pt x="0" y="0"/>
                </a:lnTo>
                <a:close/>
              </a:path>
            </a:pathLst>
          </a:custGeom>
          <a:blipFill>
            <a:blip r:embed="rId5"/>
            <a:stretch>
              <a:fillRect l="0" t="0" r="0" b="0"/>
            </a:stretch>
          </a:blipFill>
        </p:spPr>
      </p:sp>
      <p:sp>
        <p:nvSpPr>
          <p:cNvPr name="Freeform 6" id="6"/>
          <p:cNvSpPr/>
          <p:nvPr/>
        </p:nvSpPr>
        <p:spPr>
          <a:xfrm flipH="false" flipV="false" rot="0">
            <a:off x="10008086" y="634055"/>
            <a:ext cx="885962" cy="1082267"/>
          </a:xfrm>
          <a:custGeom>
            <a:avLst/>
            <a:gdLst/>
            <a:ahLst/>
            <a:cxnLst/>
            <a:rect r="r" b="b" t="t" l="l"/>
            <a:pathLst>
              <a:path h="1082267" w="885962">
                <a:moveTo>
                  <a:pt x="0" y="0"/>
                </a:moveTo>
                <a:lnTo>
                  <a:pt x="885962" y="0"/>
                </a:lnTo>
                <a:lnTo>
                  <a:pt x="885962" y="1082267"/>
                </a:lnTo>
                <a:lnTo>
                  <a:pt x="0" y="1082267"/>
                </a:lnTo>
                <a:lnTo>
                  <a:pt x="0" y="0"/>
                </a:lnTo>
                <a:close/>
              </a:path>
            </a:pathLst>
          </a:custGeom>
          <a:blipFill>
            <a:blip r:embed="rId6"/>
            <a:stretch>
              <a:fillRect l="0" t="0" r="0" b="0"/>
            </a:stretch>
          </a:blipFill>
        </p:spPr>
      </p:sp>
      <p:sp>
        <p:nvSpPr>
          <p:cNvPr name="Freeform 7" id="7"/>
          <p:cNvSpPr/>
          <p:nvPr/>
        </p:nvSpPr>
        <p:spPr>
          <a:xfrm flipH="false" flipV="false" rot="0">
            <a:off x="9789330" y="1705390"/>
            <a:ext cx="7853340" cy="1300906"/>
          </a:xfrm>
          <a:custGeom>
            <a:avLst/>
            <a:gdLst/>
            <a:ahLst/>
            <a:cxnLst/>
            <a:rect r="r" b="b" t="t" l="l"/>
            <a:pathLst>
              <a:path h="1300906" w="7853340">
                <a:moveTo>
                  <a:pt x="0" y="0"/>
                </a:moveTo>
                <a:lnTo>
                  <a:pt x="7853340" y="0"/>
                </a:lnTo>
                <a:lnTo>
                  <a:pt x="7853340" y="1300906"/>
                </a:lnTo>
                <a:lnTo>
                  <a:pt x="0" y="1300906"/>
                </a:lnTo>
                <a:lnTo>
                  <a:pt x="0" y="0"/>
                </a:lnTo>
                <a:close/>
              </a:path>
            </a:pathLst>
          </a:custGeom>
          <a:blipFill>
            <a:blip r:embed="rId7"/>
            <a:stretch>
              <a:fillRect l="0" t="0" r="0" b="0"/>
            </a:stretch>
          </a:blipFill>
        </p:spPr>
      </p:sp>
      <p:sp>
        <p:nvSpPr>
          <p:cNvPr name="Freeform 8" id="8"/>
          <p:cNvSpPr/>
          <p:nvPr/>
        </p:nvSpPr>
        <p:spPr>
          <a:xfrm flipH="false" flipV="false" rot="0">
            <a:off x="9789330" y="2995365"/>
            <a:ext cx="7853340" cy="1300906"/>
          </a:xfrm>
          <a:custGeom>
            <a:avLst/>
            <a:gdLst/>
            <a:ahLst/>
            <a:cxnLst/>
            <a:rect r="r" b="b" t="t" l="l"/>
            <a:pathLst>
              <a:path h="1300906" w="7853340">
                <a:moveTo>
                  <a:pt x="0" y="0"/>
                </a:moveTo>
                <a:lnTo>
                  <a:pt x="7853340" y="0"/>
                </a:lnTo>
                <a:lnTo>
                  <a:pt x="7853340" y="1300906"/>
                </a:lnTo>
                <a:lnTo>
                  <a:pt x="0" y="1300906"/>
                </a:lnTo>
                <a:lnTo>
                  <a:pt x="0" y="0"/>
                </a:lnTo>
                <a:close/>
              </a:path>
            </a:pathLst>
          </a:custGeom>
          <a:blipFill>
            <a:blip r:embed="rId8"/>
            <a:stretch>
              <a:fillRect l="0" t="0" r="0" b="0"/>
            </a:stretch>
          </a:blipFill>
        </p:spPr>
      </p:sp>
      <p:sp>
        <p:nvSpPr>
          <p:cNvPr name="Freeform 9" id="9"/>
          <p:cNvSpPr/>
          <p:nvPr/>
        </p:nvSpPr>
        <p:spPr>
          <a:xfrm flipH="false" flipV="false" rot="0">
            <a:off x="10008086" y="3214004"/>
            <a:ext cx="885962" cy="863627"/>
          </a:xfrm>
          <a:custGeom>
            <a:avLst/>
            <a:gdLst/>
            <a:ahLst/>
            <a:cxnLst/>
            <a:rect r="r" b="b" t="t" l="l"/>
            <a:pathLst>
              <a:path h="863627" w="885962">
                <a:moveTo>
                  <a:pt x="0" y="0"/>
                </a:moveTo>
                <a:lnTo>
                  <a:pt x="885962" y="0"/>
                </a:lnTo>
                <a:lnTo>
                  <a:pt x="885962" y="863627"/>
                </a:lnTo>
                <a:lnTo>
                  <a:pt x="0" y="863627"/>
                </a:lnTo>
                <a:lnTo>
                  <a:pt x="0" y="0"/>
                </a:lnTo>
                <a:close/>
              </a:path>
            </a:pathLst>
          </a:custGeom>
          <a:blipFill>
            <a:blip r:embed="rId9"/>
            <a:stretch>
              <a:fillRect l="0" t="0" r="0" b="0"/>
            </a:stretch>
          </a:blipFill>
        </p:spPr>
      </p:sp>
      <p:sp>
        <p:nvSpPr>
          <p:cNvPr name="Freeform 10" id="10"/>
          <p:cNvSpPr/>
          <p:nvPr/>
        </p:nvSpPr>
        <p:spPr>
          <a:xfrm flipH="false" flipV="false" rot="0">
            <a:off x="9789330" y="4285339"/>
            <a:ext cx="7853340" cy="1289974"/>
          </a:xfrm>
          <a:custGeom>
            <a:avLst/>
            <a:gdLst/>
            <a:ahLst/>
            <a:cxnLst/>
            <a:rect r="r" b="b" t="t" l="l"/>
            <a:pathLst>
              <a:path h="1289974" w="7853340">
                <a:moveTo>
                  <a:pt x="0" y="0"/>
                </a:moveTo>
                <a:lnTo>
                  <a:pt x="7853340" y="0"/>
                </a:lnTo>
                <a:lnTo>
                  <a:pt x="7853340" y="1289974"/>
                </a:lnTo>
                <a:lnTo>
                  <a:pt x="0" y="1289974"/>
                </a:lnTo>
                <a:lnTo>
                  <a:pt x="0" y="0"/>
                </a:lnTo>
                <a:close/>
              </a:path>
            </a:pathLst>
          </a:custGeom>
          <a:blipFill>
            <a:blip r:embed="rId10"/>
            <a:stretch>
              <a:fillRect l="0" t="0" r="0" b="0"/>
            </a:stretch>
          </a:blipFill>
        </p:spPr>
      </p:sp>
      <p:sp>
        <p:nvSpPr>
          <p:cNvPr name="Freeform 11" id="11"/>
          <p:cNvSpPr/>
          <p:nvPr/>
        </p:nvSpPr>
        <p:spPr>
          <a:xfrm flipH="false" flipV="false" rot="0">
            <a:off x="9789330" y="5564382"/>
            <a:ext cx="7853340" cy="1300906"/>
          </a:xfrm>
          <a:custGeom>
            <a:avLst/>
            <a:gdLst/>
            <a:ahLst/>
            <a:cxnLst/>
            <a:rect r="r" b="b" t="t" l="l"/>
            <a:pathLst>
              <a:path h="1300906" w="7853340">
                <a:moveTo>
                  <a:pt x="0" y="0"/>
                </a:moveTo>
                <a:lnTo>
                  <a:pt x="7853340" y="0"/>
                </a:lnTo>
                <a:lnTo>
                  <a:pt x="7853340" y="1300906"/>
                </a:lnTo>
                <a:lnTo>
                  <a:pt x="0" y="1300906"/>
                </a:lnTo>
                <a:lnTo>
                  <a:pt x="0" y="0"/>
                </a:lnTo>
                <a:close/>
              </a:path>
            </a:pathLst>
          </a:custGeom>
          <a:blipFill>
            <a:blip r:embed="rId11"/>
            <a:stretch>
              <a:fillRect l="0" t="0" r="0" b="0"/>
            </a:stretch>
          </a:blipFill>
        </p:spPr>
      </p:sp>
      <p:sp>
        <p:nvSpPr>
          <p:cNvPr name="Freeform 12" id="12"/>
          <p:cNvSpPr/>
          <p:nvPr/>
        </p:nvSpPr>
        <p:spPr>
          <a:xfrm flipH="false" flipV="false" rot="0">
            <a:off x="9789330" y="6854356"/>
            <a:ext cx="7853340" cy="1508614"/>
          </a:xfrm>
          <a:custGeom>
            <a:avLst/>
            <a:gdLst/>
            <a:ahLst/>
            <a:cxnLst/>
            <a:rect r="r" b="b" t="t" l="l"/>
            <a:pathLst>
              <a:path h="1508614" w="7853340">
                <a:moveTo>
                  <a:pt x="0" y="0"/>
                </a:moveTo>
                <a:lnTo>
                  <a:pt x="7853340" y="0"/>
                </a:lnTo>
                <a:lnTo>
                  <a:pt x="7853340" y="1508614"/>
                </a:lnTo>
                <a:lnTo>
                  <a:pt x="0" y="1508614"/>
                </a:lnTo>
                <a:lnTo>
                  <a:pt x="0" y="0"/>
                </a:lnTo>
                <a:close/>
              </a:path>
            </a:pathLst>
          </a:custGeom>
          <a:blipFill>
            <a:blip r:embed="rId12"/>
            <a:stretch>
              <a:fillRect l="0" t="0" r="0" b="0"/>
            </a:stretch>
          </a:blipFill>
        </p:spPr>
      </p:sp>
      <p:sp>
        <p:nvSpPr>
          <p:cNvPr name="Freeform 13" id="13"/>
          <p:cNvSpPr/>
          <p:nvPr/>
        </p:nvSpPr>
        <p:spPr>
          <a:xfrm flipH="false" flipV="false" rot="0">
            <a:off x="10008086" y="5784863"/>
            <a:ext cx="885962" cy="874559"/>
          </a:xfrm>
          <a:custGeom>
            <a:avLst/>
            <a:gdLst/>
            <a:ahLst/>
            <a:cxnLst/>
            <a:rect r="r" b="b" t="t" l="l"/>
            <a:pathLst>
              <a:path h="874559" w="885962">
                <a:moveTo>
                  <a:pt x="0" y="0"/>
                </a:moveTo>
                <a:lnTo>
                  <a:pt x="885962" y="0"/>
                </a:lnTo>
                <a:lnTo>
                  <a:pt x="885962" y="874559"/>
                </a:lnTo>
                <a:lnTo>
                  <a:pt x="0" y="874559"/>
                </a:lnTo>
                <a:lnTo>
                  <a:pt x="0" y="0"/>
                </a:lnTo>
                <a:close/>
              </a:path>
            </a:pathLst>
          </a:custGeom>
          <a:blipFill>
            <a:blip r:embed="rId13"/>
            <a:stretch>
              <a:fillRect l="0" t="0" r="0" b="0"/>
            </a:stretch>
          </a:blipFill>
        </p:spPr>
      </p:sp>
      <p:sp>
        <p:nvSpPr>
          <p:cNvPr name="Freeform 14" id="14"/>
          <p:cNvSpPr/>
          <p:nvPr/>
        </p:nvSpPr>
        <p:spPr>
          <a:xfrm flipH="false" flipV="false" rot="0">
            <a:off x="9789330" y="8133399"/>
            <a:ext cx="7853340" cy="1519546"/>
          </a:xfrm>
          <a:custGeom>
            <a:avLst/>
            <a:gdLst/>
            <a:ahLst/>
            <a:cxnLst/>
            <a:rect r="r" b="b" t="t" l="l"/>
            <a:pathLst>
              <a:path h="1519546" w="7853340">
                <a:moveTo>
                  <a:pt x="0" y="0"/>
                </a:moveTo>
                <a:lnTo>
                  <a:pt x="7853340" y="0"/>
                </a:lnTo>
                <a:lnTo>
                  <a:pt x="7853340" y="1519546"/>
                </a:lnTo>
                <a:lnTo>
                  <a:pt x="0" y="1519546"/>
                </a:lnTo>
                <a:lnTo>
                  <a:pt x="0" y="0"/>
                </a:lnTo>
                <a:close/>
              </a:path>
            </a:pathLst>
          </a:custGeom>
          <a:blipFill>
            <a:blip r:embed="rId14"/>
            <a:stretch>
              <a:fillRect l="0" t="0" r="0" b="0"/>
            </a:stretch>
          </a:blipFill>
        </p:spPr>
      </p:sp>
      <p:sp>
        <p:nvSpPr>
          <p:cNvPr name="Freeform 15" id="15"/>
          <p:cNvSpPr/>
          <p:nvPr/>
        </p:nvSpPr>
        <p:spPr>
          <a:xfrm flipH="false" flipV="false" rot="0">
            <a:off x="10008086" y="4372471"/>
            <a:ext cx="885962" cy="1082267"/>
          </a:xfrm>
          <a:custGeom>
            <a:avLst/>
            <a:gdLst/>
            <a:ahLst/>
            <a:cxnLst/>
            <a:rect r="r" b="b" t="t" l="l"/>
            <a:pathLst>
              <a:path h="1082267" w="885962">
                <a:moveTo>
                  <a:pt x="0" y="0"/>
                </a:moveTo>
                <a:lnTo>
                  <a:pt x="885962" y="0"/>
                </a:lnTo>
                <a:lnTo>
                  <a:pt x="885962" y="1082267"/>
                </a:lnTo>
                <a:lnTo>
                  <a:pt x="0" y="1082267"/>
                </a:lnTo>
                <a:lnTo>
                  <a:pt x="0" y="0"/>
                </a:lnTo>
                <a:close/>
              </a:path>
            </a:pathLst>
          </a:custGeom>
          <a:blipFill>
            <a:blip r:embed="rId15"/>
            <a:stretch>
              <a:fillRect l="0" t="0" r="0" b="0"/>
            </a:stretch>
          </a:blipFill>
        </p:spPr>
      </p:sp>
      <p:sp>
        <p:nvSpPr>
          <p:cNvPr name="Freeform 16" id="16"/>
          <p:cNvSpPr/>
          <p:nvPr/>
        </p:nvSpPr>
        <p:spPr>
          <a:xfrm flipH="false" flipV="false" rot="0">
            <a:off x="10116536" y="2118606"/>
            <a:ext cx="777512" cy="801809"/>
          </a:xfrm>
          <a:custGeom>
            <a:avLst/>
            <a:gdLst/>
            <a:ahLst/>
            <a:cxnLst/>
            <a:rect r="r" b="b" t="t" l="l"/>
            <a:pathLst>
              <a:path h="801809" w="777512">
                <a:moveTo>
                  <a:pt x="0" y="0"/>
                </a:moveTo>
                <a:lnTo>
                  <a:pt x="777512" y="0"/>
                </a:lnTo>
                <a:lnTo>
                  <a:pt x="777512" y="801809"/>
                </a:lnTo>
                <a:lnTo>
                  <a:pt x="0" y="801809"/>
                </a:lnTo>
                <a:lnTo>
                  <a:pt x="0" y="0"/>
                </a:lnTo>
                <a:close/>
              </a:path>
            </a:pathLst>
          </a:custGeom>
          <a:blipFill>
            <a:blip r:embed="rId16"/>
            <a:stretch>
              <a:fillRect l="0" t="0" r="0" b="0"/>
            </a:stretch>
          </a:blipFill>
        </p:spPr>
      </p:sp>
      <p:sp>
        <p:nvSpPr>
          <p:cNvPr name="Freeform 17" id="17"/>
          <p:cNvSpPr/>
          <p:nvPr/>
        </p:nvSpPr>
        <p:spPr>
          <a:xfrm flipH="false" flipV="false" rot="0">
            <a:off x="10051039" y="7160563"/>
            <a:ext cx="908506" cy="908506"/>
          </a:xfrm>
          <a:custGeom>
            <a:avLst/>
            <a:gdLst/>
            <a:ahLst/>
            <a:cxnLst/>
            <a:rect r="r" b="b" t="t" l="l"/>
            <a:pathLst>
              <a:path h="908506" w="908506">
                <a:moveTo>
                  <a:pt x="0" y="0"/>
                </a:moveTo>
                <a:lnTo>
                  <a:pt x="908506" y="0"/>
                </a:lnTo>
                <a:lnTo>
                  <a:pt x="908506" y="908506"/>
                </a:lnTo>
                <a:lnTo>
                  <a:pt x="0" y="908506"/>
                </a:lnTo>
                <a:lnTo>
                  <a:pt x="0" y="0"/>
                </a:lnTo>
                <a:close/>
              </a:path>
            </a:pathLst>
          </a:custGeom>
          <a:blipFill>
            <a:blip r:embed="rId17"/>
            <a:stretch>
              <a:fillRect l="0" t="0" r="0" b="0"/>
            </a:stretch>
          </a:blipFill>
        </p:spPr>
      </p:sp>
      <p:sp>
        <p:nvSpPr>
          <p:cNvPr name="Freeform 18" id="18"/>
          <p:cNvSpPr/>
          <p:nvPr/>
        </p:nvSpPr>
        <p:spPr>
          <a:xfrm flipH="false" flipV="false" rot="0">
            <a:off x="10051039" y="8439170"/>
            <a:ext cx="969006" cy="969006"/>
          </a:xfrm>
          <a:custGeom>
            <a:avLst/>
            <a:gdLst/>
            <a:ahLst/>
            <a:cxnLst/>
            <a:rect r="r" b="b" t="t" l="l"/>
            <a:pathLst>
              <a:path h="969006" w="969006">
                <a:moveTo>
                  <a:pt x="0" y="0"/>
                </a:moveTo>
                <a:lnTo>
                  <a:pt x="969006" y="0"/>
                </a:lnTo>
                <a:lnTo>
                  <a:pt x="969006" y="969006"/>
                </a:lnTo>
                <a:lnTo>
                  <a:pt x="0" y="969006"/>
                </a:lnTo>
                <a:lnTo>
                  <a:pt x="0" y="0"/>
                </a:lnTo>
                <a:close/>
              </a:path>
            </a:pathLst>
          </a:custGeom>
          <a:blipFill>
            <a:blip r:embed="rId18"/>
            <a:stretch>
              <a:fillRect l="0" t="0" r="0" b="0"/>
            </a:stretch>
          </a:blipFill>
        </p:spPr>
      </p:sp>
      <p:sp>
        <p:nvSpPr>
          <p:cNvPr name="TextBox 19" id="19"/>
          <p:cNvSpPr txBox="true"/>
          <p:nvPr/>
        </p:nvSpPr>
        <p:spPr>
          <a:xfrm rot="0">
            <a:off x="841248" y="893776"/>
            <a:ext cx="6693408" cy="2026639"/>
          </a:xfrm>
          <a:prstGeom prst="rect">
            <a:avLst/>
          </a:prstGeom>
        </p:spPr>
        <p:txBody>
          <a:bodyPr anchor="t" rtlCol="false" tIns="0" lIns="0" bIns="0" rIns="0">
            <a:spAutoFit/>
          </a:bodyPr>
          <a:lstStyle/>
          <a:p>
            <a:pPr algn="l">
              <a:lnSpc>
                <a:spcPts val="7923"/>
              </a:lnSpc>
            </a:pPr>
            <a:r>
              <a:rPr lang="en-US" sz="6889" b="true">
                <a:solidFill>
                  <a:srgbClr val="317A64"/>
                </a:solidFill>
                <a:latin typeface="Garet Bold"/>
                <a:ea typeface="Garet Bold"/>
                <a:cs typeface="Garet Bold"/>
                <a:sym typeface="Garet Bold"/>
              </a:rPr>
              <a:t>TECHNOLOGY STACK</a:t>
            </a:r>
          </a:p>
        </p:txBody>
      </p:sp>
      <p:sp>
        <p:nvSpPr>
          <p:cNvPr name="TextBox 20" id="20"/>
          <p:cNvSpPr txBox="true"/>
          <p:nvPr/>
        </p:nvSpPr>
        <p:spPr>
          <a:xfrm rot="0">
            <a:off x="11576304" y="2272593"/>
            <a:ext cx="3621024"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PostgreSQL + Docker</a:t>
            </a:r>
          </a:p>
        </p:txBody>
      </p:sp>
      <p:sp>
        <p:nvSpPr>
          <p:cNvPr name="TextBox 21" id="21"/>
          <p:cNvSpPr txBox="true"/>
          <p:nvPr/>
        </p:nvSpPr>
        <p:spPr>
          <a:xfrm rot="0">
            <a:off x="11576304" y="4637602"/>
            <a:ext cx="3127248"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JDBC</a:t>
            </a:r>
          </a:p>
        </p:txBody>
      </p:sp>
      <p:sp>
        <p:nvSpPr>
          <p:cNvPr name="TextBox 22" id="22"/>
          <p:cNvSpPr txBox="true"/>
          <p:nvPr/>
        </p:nvSpPr>
        <p:spPr>
          <a:xfrm rot="0">
            <a:off x="11576304" y="5933764"/>
            <a:ext cx="3072384"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JUnit 5 + Mockito</a:t>
            </a:r>
          </a:p>
        </p:txBody>
      </p:sp>
      <p:sp>
        <p:nvSpPr>
          <p:cNvPr name="TextBox 23" id="23"/>
          <p:cNvSpPr txBox="true"/>
          <p:nvPr/>
        </p:nvSpPr>
        <p:spPr>
          <a:xfrm rot="0">
            <a:off x="11576304" y="7278621"/>
            <a:ext cx="3035808" cy="393819"/>
          </a:xfrm>
          <a:prstGeom prst="rect">
            <a:avLst/>
          </a:prstGeom>
        </p:spPr>
        <p:txBody>
          <a:bodyPr anchor="t" rtlCol="false" tIns="0" lIns="0" bIns="0" rIns="0">
            <a:spAutoFit/>
          </a:bodyPr>
          <a:lstStyle/>
          <a:p>
            <a:pPr algn="l">
              <a:lnSpc>
                <a:spcPts val="3214"/>
              </a:lnSpc>
            </a:pPr>
            <a:r>
              <a:rPr lang="en-US" sz="2296">
                <a:solidFill>
                  <a:srgbClr val="000000"/>
                </a:solidFill>
                <a:latin typeface="Garet"/>
                <a:ea typeface="Garet"/>
                <a:cs typeface="Garet"/>
                <a:sym typeface="Garet"/>
              </a:rPr>
              <a:t>SLF4J + Logback</a:t>
            </a:r>
          </a:p>
        </p:txBody>
      </p:sp>
      <p:sp>
        <p:nvSpPr>
          <p:cNvPr name="TextBox 24" id="24"/>
          <p:cNvSpPr txBox="true"/>
          <p:nvPr/>
        </p:nvSpPr>
        <p:spPr>
          <a:xfrm rot="0">
            <a:off x="11576304" y="8738524"/>
            <a:ext cx="3438144" cy="373945"/>
          </a:xfrm>
          <a:prstGeom prst="rect">
            <a:avLst/>
          </a:prstGeom>
        </p:spPr>
        <p:txBody>
          <a:bodyPr anchor="t" rtlCol="false" tIns="0" lIns="0" bIns="0" rIns="0">
            <a:spAutoFit/>
          </a:bodyPr>
          <a:lstStyle/>
          <a:p>
            <a:pPr algn="l">
              <a:lnSpc>
                <a:spcPts val="3182"/>
              </a:lnSpc>
            </a:pPr>
            <a:r>
              <a:rPr lang="en-US" sz="2273">
                <a:solidFill>
                  <a:srgbClr val="000000"/>
                </a:solidFill>
                <a:latin typeface="Garet"/>
                <a:ea typeface="Garet"/>
                <a:cs typeface="Garet"/>
                <a:sym typeface="Garet"/>
              </a:rPr>
              <a:t>Git + GitHub</a:t>
            </a:r>
          </a:p>
        </p:txBody>
      </p:sp>
      <p:sp>
        <p:nvSpPr>
          <p:cNvPr name="TextBox 25" id="25"/>
          <p:cNvSpPr txBox="true"/>
          <p:nvPr/>
        </p:nvSpPr>
        <p:spPr>
          <a:xfrm rot="0">
            <a:off x="11576304" y="992413"/>
            <a:ext cx="1426958" cy="373945"/>
          </a:xfrm>
          <a:prstGeom prst="rect">
            <a:avLst/>
          </a:prstGeom>
        </p:spPr>
        <p:txBody>
          <a:bodyPr anchor="t" rtlCol="false" tIns="0" lIns="0" bIns="0" rIns="0">
            <a:spAutoFit/>
          </a:bodyPr>
          <a:lstStyle/>
          <a:p>
            <a:pPr algn="l">
              <a:lnSpc>
                <a:spcPts val="3182"/>
              </a:lnSpc>
            </a:pPr>
            <a:r>
              <a:rPr lang="en-US" sz="2273">
                <a:solidFill>
                  <a:srgbClr val="000000"/>
                </a:solidFill>
                <a:latin typeface="Garet"/>
                <a:ea typeface="Garet"/>
                <a:cs typeface="Garet"/>
                <a:sym typeface="Garet"/>
              </a:rPr>
              <a:t>Java 21</a:t>
            </a:r>
          </a:p>
        </p:txBody>
      </p:sp>
      <p:sp>
        <p:nvSpPr>
          <p:cNvPr name="TextBox 26" id="26"/>
          <p:cNvSpPr txBox="true"/>
          <p:nvPr/>
        </p:nvSpPr>
        <p:spPr>
          <a:xfrm rot="0">
            <a:off x="11576304" y="3548181"/>
            <a:ext cx="4791456"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Maven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875024" cy="10287000"/>
          </a:xfrm>
          <a:custGeom>
            <a:avLst/>
            <a:gdLst/>
            <a:ahLst/>
            <a:cxnLst/>
            <a:rect r="r" b="b" t="t" l="l"/>
            <a:pathLst>
              <a:path h="10287000" w="875024">
                <a:moveTo>
                  <a:pt x="0" y="0"/>
                </a:moveTo>
                <a:lnTo>
                  <a:pt x="875024" y="0"/>
                </a:lnTo>
                <a:lnTo>
                  <a:pt x="875024" y="10287000"/>
                </a:lnTo>
                <a:lnTo>
                  <a:pt x="0" y="10287000"/>
                </a:lnTo>
                <a:lnTo>
                  <a:pt x="0" y="0"/>
                </a:lnTo>
                <a:close/>
              </a:path>
            </a:pathLst>
          </a:custGeom>
          <a:blipFill>
            <a:blip r:embed="rId3"/>
            <a:stretch>
              <a:fillRect l="0" t="0" r="0" b="0"/>
            </a:stretch>
          </a:blipFill>
        </p:spPr>
      </p:sp>
      <p:sp>
        <p:nvSpPr>
          <p:cNvPr name="Freeform 4" id="4"/>
          <p:cNvSpPr/>
          <p:nvPr/>
        </p:nvSpPr>
        <p:spPr>
          <a:xfrm flipH="false" flipV="false" rot="0">
            <a:off x="0" y="0"/>
            <a:ext cx="2395378" cy="2153601"/>
          </a:xfrm>
          <a:custGeom>
            <a:avLst/>
            <a:gdLst/>
            <a:ahLst/>
            <a:cxnLst/>
            <a:rect r="r" b="b" t="t" l="l"/>
            <a:pathLst>
              <a:path h="2153601" w="2395378">
                <a:moveTo>
                  <a:pt x="0" y="0"/>
                </a:moveTo>
                <a:lnTo>
                  <a:pt x="2395378" y="0"/>
                </a:lnTo>
                <a:lnTo>
                  <a:pt x="2395378" y="2153601"/>
                </a:lnTo>
                <a:lnTo>
                  <a:pt x="0" y="2153601"/>
                </a:lnTo>
                <a:lnTo>
                  <a:pt x="0" y="0"/>
                </a:lnTo>
                <a:close/>
              </a:path>
            </a:pathLst>
          </a:custGeom>
          <a:blipFill>
            <a:blip r:embed="rId4"/>
            <a:stretch>
              <a:fillRect l="0" t="0" r="0" b="0"/>
            </a:stretch>
          </a:blipFill>
        </p:spPr>
      </p:sp>
      <p:sp>
        <p:nvSpPr>
          <p:cNvPr name="Freeform 5" id="5"/>
          <p:cNvSpPr/>
          <p:nvPr/>
        </p:nvSpPr>
        <p:spPr>
          <a:xfrm flipH="false" flipV="false" rot="0">
            <a:off x="16100440" y="7707051"/>
            <a:ext cx="2187560" cy="2579949"/>
          </a:xfrm>
          <a:custGeom>
            <a:avLst/>
            <a:gdLst/>
            <a:ahLst/>
            <a:cxnLst/>
            <a:rect r="r" b="b" t="t" l="l"/>
            <a:pathLst>
              <a:path h="2579949" w="2187560">
                <a:moveTo>
                  <a:pt x="0" y="0"/>
                </a:moveTo>
                <a:lnTo>
                  <a:pt x="2187560" y="0"/>
                </a:lnTo>
                <a:lnTo>
                  <a:pt x="2187560" y="2579949"/>
                </a:lnTo>
                <a:lnTo>
                  <a:pt x="0" y="2579949"/>
                </a:lnTo>
                <a:lnTo>
                  <a:pt x="0" y="0"/>
                </a:lnTo>
                <a:close/>
              </a:path>
            </a:pathLst>
          </a:custGeom>
          <a:blipFill>
            <a:blip r:embed="rId5"/>
            <a:stretch>
              <a:fillRect l="0" t="0" r="0" b="0"/>
            </a:stretch>
          </a:blipFill>
        </p:spPr>
      </p:sp>
      <p:sp>
        <p:nvSpPr>
          <p:cNvPr name="Freeform 6" id="6"/>
          <p:cNvSpPr/>
          <p:nvPr/>
        </p:nvSpPr>
        <p:spPr>
          <a:xfrm flipH="false" flipV="false" rot="0">
            <a:off x="8487732" y="1924030"/>
            <a:ext cx="1531292" cy="229572"/>
          </a:xfrm>
          <a:custGeom>
            <a:avLst/>
            <a:gdLst/>
            <a:ahLst/>
            <a:cxnLst/>
            <a:rect r="r" b="b" t="t" l="l"/>
            <a:pathLst>
              <a:path h="229572" w="1531292">
                <a:moveTo>
                  <a:pt x="0" y="0"/>
                </a:moveTo>
                <a:lnTo>
                  <a:pt x="1531292" y="0"/>
                </a:lnTo>
                <a:lnTo>
                  <a:pt x="1531292" y="229571"/>
                </a:lnTo>
                <a:lnTo>
                  <a:pt x="0" y="229571"/>
                </a:lnTo>
                <a:lnTo>
                  <a:pt x="0" y="0"/>
                </a:lnTo>
                <a:close/>
              </a:path>
            </a:pathLst>
          </a:custGeom>
          <a:blipFill>
            <a:blip r:embed="rId6"/>
            <a:stretch>
              <a:fillRect l="0" t="0" r="0" b="0"/>
            </a:stretch>
          </a:blipFill>
        </p:spPr>
      </p:sp>
      <p:sp>
        <p:nvSpPr>
          <p:cNvPr name="Freeform 7" id="7"/>
          <p:cNvSpPr/>
          <p:nvPr/>
        </p:nvSpPr>
        <p:spPr>
          <a:xfrm flipH="false" flipV="false" rot="0">
            <a:off x="14361330" y="8352038"/>
            <a:ext cx="1968804" cy="1934962"/>
          </a:xfrm>
          <a:custGeom>
            <a:avLst/>
            <a:gdLst/>
            <a:ahLst/>
            <a:cxnLst/>
            <a:rect r="r" b="b" t="t" l="l"/>
            <a:pathLst>
              <a:path h="1934962" w="1968804">
                <a:moveTo>
                  <a:pt x="0" y="0"/>
                </a:moveTo>
                <a:lnTo>
                  <a:pt x="1968804" y="0"/>
                </a:lnTo>
                <a:lnTo>
                  <a:pt x="1968804" y="1934962"/>
                </a:lnTo>
                <a:lnTo>
                  <a:pt x="0" y="1934962"/>
                </a:lnTo>
                <a:lnTo>
                  <a:pt x="0" y="0"/>
                </a:lnTo>
                <a:close/>
              </a:path>
            </a:pathLst>
          </a:custGeom>
          <a:blipFill>
            <a:blip r:embed="rId7"/>
            <a:stretch>
              <a:fillRect l="0" t="0" r="0" b="0"/>
            </a:stretch>
          </a:blipFill>
        </p:spPr>
      </p:sp>
      <p:sp>
        <p:nvSpPr>
          <p:cNvPr name="Freeform 8" id="8"/>
          <p:cNvSpPr/>
          <p:nvPr/>
        </p:nvSpPr>
        <p:spPr>
          <a:xfrm flipH="false" flipV="false" rot="0">
            <a:off x="2596162" y="1924030"/>
            <a:ext cx="14259369" cy="6468957"/>
          </a:xfrm>
          <a:custGeom>
            <a:avLst/>
            <a:gdLst/>
            <a:ahLst/>
            <a:cxnLst/>
            <a:rect r="r" b="b" t="t" l="l"/>
            <a:pathLst>
              <a:path h="6468957" w="14259369">
                <a:moveTo>
                  <a:pt x="0" y="0"/>
                </a:moveTo>
                <a:lnTo>
                  <a:pt x="14259369" y="0"/>
                </a:lnTo>
                <a:lnTo>
                  <a:pt x="14259369" y="6468957"/>
                </a:lnTo>
                <a:lnTo>
                  <a:pt x="0" y="6468957"/>
                </a:lnTo>
                <a:lnTo>
                  <a:pt x="0" y="0"/>
                </a:lnTo>
                <a:close/>
              </a:path>
            </a:pathLst>
          </a:custGeom>
          <a:blipFill>
            <a:blip r:embed="rId8"/>
            <a:stretch>
              <a:fillRect l="0" t="-4695" r="0" b="-4695"/>
            </a:stretch>
          </a:blipFill>
        </p:spPr>
      </p:sp>
      <p:sp>
        <p:nvSpPr>
          <p:cNvPr name="TextBox 9" id="9"/>
          <p:cNvSpPr txBox="true"/>
          <p:nvPr/>
        </p:nvSpPr>
        <p:spPr>
          <a:xfrm rot="0">
            <a:off x="2706624" y="662073"/>
            <a:ext cx="13679424" cy="1040720"/>
          </a:xfrm>
          <a:prstGeom prst="rect">
            <a:avLst/>
          </a:prstGeom>
        </p:spPr>
        <p:txBody>
          <a:bodyPr anchor="t" rtlCol="false" tIns="0" lIns="0" bIns="0" rIns="0">
            <a:spAutoFit/>
          </a:bodyPr>
          <a:lstStyle/>
          <a:p>
            <a:pPr algn="ctr">
              <a:lnSpc>
                <a:spcPts val="8594"/>
              </a:lnSpc>
            </a:pPr>
            <a:r>
              <a:rPr lang="en-US" b="true" sz="6138">
                <a:solidFill>
                  <a:srgbClr val="2D6F69"/>
                </a:solidFill>
                <a:latin typeface="Garet Bold"/>
                <a:ea typeface="Garet Bold"/>
                <a:cs typeface="Garet Bold"/>
                <a:sym typeface="Garet Bold"/>
              </a:rPr>
              <a:t>ENTITY RELATIONSHIP OVERVIEW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0312" y="-2382621"/>
            <a:ext cx="6292076" cy="16553520"/>
            <a:chOff x="0" y="0"/>
            <a:chExt cx="376151" cy="989598"/>
          </a:xfrm>
        </p:grpSpPr>
        <p:sp>
          <p:nvSpPr>
            <p:cNvPr name="Freeform 3" id="3"/>
            <p:cNvSpPr/>
            <p:nvPr/>
          </p:nvSpPr>
          <p:spPr>
            <a:xfrm flipH="false" flipV="false" rot="0">
              <a:off x="0" y="0"/>
              <a:ext cx="376151" cy="989598"/>
            </a:xfrm>
            <a:custGeom>
              <a:avLst/>
              <a:gdLst/>
              <a:ahLst/>
              <a:cxnLst/>
              <a:rect r="r" b="b" t="t" l="l"/>
              <a:pathLst>
                <a:path h="989598" w="376151">
                  <a:moveTo>
                    <a:pt x="0" y="0"/>
                  </a:moveTo>
                  <a:lnTo>
                    <a:pt x="376151" y="0"/>
                  </a:lnTo>
                  <a:lnTo>
                    <a:pt x="376151" y="989598"/>
                  </a:lnTo>
                  <a:lnTo>
                    <a:pt x="0" y="989598"/>
                  </a:lnTo>
                  <a:close/>
                </a:path>
              </a:pathLst>
            </a:custGeom>
            <a:solidFill>
              <a:srgbClr val="E7FFCC"/>
            </a:solidFill>
          </p:spPr>
        </p:sp>
        <p:sp>
          <p:nvSpPr>
            <p:cNvPr name="TextBox 4" id="4"/>
            <p:cNvSpPr txBox="true"/>
            <p:nvPr/>
          </p:nvSpPr>
          <p:spPr>
            <a:xfrm>
              <a:off x="0" y="-28575"/>
              <a:ext cx="376151" cy="101817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8040048"/>
            <a:ext cx="8115300" cy="1218252"/>
            <a:chOff x="0" y="0"/>
            <a:chExt cx="812800" cy="122016"/>
          </a:xfrm>
        </p:grpSpPr>
        <p:sp>
          <p:nvSpPr>
            <p:cNvPr name="Freeform 6" id="6"/>
            <p:cNvSpPr/>
            <p:nvPr/>
          </p:nvSpPr>
          <p:spPr>
            <a:xfrm flipH="false" flipV="false" rot="0">
              <a:off x="0" y="0"/>
              <a:ext cx="812800" cy="122016"/>
            </a:xfrm>
            <a:custGeom>
              <a:avLst/>
              <a:gdLst/>
              <a:ahLst/>
              <a:cxnLst/>
              <a:rect r="r" b="b" t="t" l="l"/>
              <a:pathLst>
                <a:path h="122016" w="812800">
                  <a:moveTo>
                    <a:pt x="406400" y="0"/>
                  </a:moveTo>
                  <a:cubicBezTo>
                    <a:pt x="181951" y="0"/>
                    <a:pt x="0" y="27314"/>
                    <a:pt x="0" y="61008"/>
                  </a:cubicBezTo>
                  <a:cubicBezTo>
                    <a:pt x="0" y="94702"/>
                    <a:pt x="181951" y="122016"/>
                    <a:pt x="406400" y="122016"/>
                  </a:cubicBezTo>
                  <a:cubicBezTo>
                    <a:pt x="630849" y="122016"/>
                    <a:pt x="812800" y="94702"/>
                    <a:pt x="812800" y="61008"/>
                  </a:cubicBezTo>
                  <a:cubicBezTo>
                    <a:pt x="812800" y="27314"/>
                    <a:pt x="630849" y="0"/>
                    <a:pt x="406400" y="0"/>
                  </a:cubicBezTo>
                  <a:close/>
                </a:path>
              </a:pathLst>
            </a:custGeom>
            <a:solidFill>
              <a:srgbClr val="3E3A4E"/>
            </a:solidFill>
          </p:spPr>
        </p:sp>
        <p:sp>
          <p:nvSpPr>
            <p:cNvPr name="TextBox 7" id="7"/>
            <p:cNvSpPr txBox="true"/>
            <p:nvPr/>
          </p:nvSpPr>
          <p:spPr>
            <a:xfrm>
              <a:off x="76200" y="-17136"/>
              <a:ext cx="660400" cy="12771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028700" y="1920852"/>
            <a:ext cx="8115300" cy="6728321"/>
          </a:xfrm>
          <a:custGeom>
            <a:avLst/>
            <a:gdLst/>
            <a:ahLst/>
            <a:cxnLst/>
            <a:rect r="r" b="b" t="t" l="l"/>
            <a:pathLst>
              <a:path h="6728321" w="8115300">
                <a:moveTo>
                  <a:pt x="0" y="0"/>
                </a:moveTo>
                <a:lnTo>
                  <a:pt x="8115300" y="0"/>
                </a:lnTo>
                <a:lnTo>
                  <a:pt x="8115300" y="6728322"/>
                </a:lnTo>
                <a:lnTo>
                  <a:pt x="0" y="6728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908252" y="-1998391"/>
            <a:ext cx="4528369" cy="452836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5EC57E"/>
              </a:solidFill>
              <a:prstDash val="solid"/>
              <a:miter/>
            </a:ln>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5783157" y="8173596"/>
            <a:ext cx="5009685" cy="500968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5" id="15"/>
          <p:cNvSpPr/>
          <p:nvPr/>
        </p:nvSpPr>
        <p:spPr>
          <a:xfrm flipH="false" flipV="false" rot="0">
            <a:off x="7807201" y="1321222"/>
            <a:ext cx="1766576" cy="1907234"/>
          </a:xfrm>
          <a:custGeom>
            <a:avLst/>
            <a:gdLst/>
            <a:ahLst/>
            <a:cxnLst/>
            <a:rect r="r" b="b" t="t" l="l"/>
            <a:pathLst>
              <a:path h="1907234" w="1766576">
                <a:moveTo>
                  <a:pt x="0" y="0"/>
                </a:moveTo>
                <a:lnTo>
                  <a:pt x="1766576" y="0"/>
                </a:lnTo>
                <a:lnTo>
                  <a:pt x="1766576" y="1907234"/>
                </a:lnTo>
                <a:lnTo>
                  <a:pt x="0" y="1907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6836224" y="329080"/>
            <a:ext cx="1037384" cy="1489881"/>
          </a:xfrm>
          <a:custGeom>
            <a:avLst/>
            <a:gdLst/>
            <a:ahLst/>
            <a:cxnLst/>
            <a:rect r="r" b="b" t="t" l="l"/>
            <a:pathLst>
              <a:path h="1489881" w="1037384">
                <a:moveTo>
                  <a:pt x="0" y="0"/>
                </a:moveTo>
                <a:lnTo>
                  <a:pt x="1037384" y="0"/>
                </a:lnTo>
                <a:lnTo>
                  <a:pt x="1037384" y="1489881"/>
                </a:lnTo>
                <a:lnTo>
                  <a:pt x="0" y="1489881"/>
                </a:lnTo>
                <a:lnTo>
                  <a:pt x="0" y="0"/>
                </a:lnTo>
                <a:close/>
              </a:path>
            </a:pathLst>
          </a:custGeom>
          <a:blipFill>
            <a:blip r:embed="rId6">
              <a:extLst>
                <a:ext uri="{96DAC541-7B7A-43D3-8B79-37D633B846F1}">
                  <asvg:svgBlip xmlns:asvg="http://schemas.microsoft.com/office/drawing/2016/SVG/main" r:embed="rId7"/>
                </a:ext>
              </a:extLst>
            </a:blip>
            <a:stretch>
              <a:fillRect l="-375949" t="0" r="0" b="-222270"/>
            </a:stretch>
          </a:blipFill>
        </p:spPr>
      </p:sp>
      <p:sp>
        <p:nvSpPr>
          <p:cNvPr name="TextBox 17" id="17"/>
          <p:cNvSpPr txBox="true"/>
          <p:nvPr/>
        </p:nvSpPr>
        <p:spPr>
          <a:xfrm rot="0">
            <a:off x="9962532" y="3966210"/>
            <a:ext cx="6873692" cy="1177413"/>
          </a:xfrm>
          <a:prstGeom prst="rect">
            <a:avLst/>
          </a:prstGeom>
        </p:spPr>
        <p:txBody>
          <a:bodyPr anchor="t" rtlCol="false" tIns="0" lIns="0" bIns="0" rIns="0">
            <a:spAutoFit/>
          </a:bodyPr>
          <a:lstStyle/>
          <a:p>
            <a:pPr algn="ctr" marL="0" indent="0" lvl="0">
              <a:lnSpc>
                <a:spcPts val="9653"/>
              </a:lnSpc>
            </a:pPr>
            <a:r>
              <a:rPr lang="en-US" b="true" sz="6895">
                <a:solidFill>
                  <a:srgbClr val="347470"/>
                </a:solidFill>
                <a:latin typeface="Garet Bold"/>
                <a:ea typeface="Garet Bold"/>
                <a:cs typeface="Garet Bold"/>
                <a:sym typeface="Gare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DAHWHt95vZk</dc:identifier>
  <dcterms:modified xsi:type="dcterms:W3CDTF">2011-08-01T06:04:30Z</dcterms:modified>
  <cp:revision>1</cp:revision>
  <dc:title>Bank of CLI</dc:title>
</cp:coreProperties>
</file>